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Non-Blocking Bulk Operations</a:t>
            </a:r>
            <a:br/>
            <a:r>
              <a:t>Management using SSE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017520"/>
            <a:ext cx="210312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Real-time progress tracking for long-running telecom operations</a:t>
            </a:r>
            <a:br/>
            <a:r>
              <a:t>with Server-Sent Events, React &amp; Spring Boot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Segoe UI"/>
              </a:defRPr>
            </a:pPr>
            <a:r>
              <a:t>Architecture &amp; Design Walkthrough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Segoe UI"/>
              </a:defRPr>
            </a:pPr>
            <a:r>
              <a:t>1</a:t>
            </a:r>
          </a:p>
        </p:txBody>
      </p:sp>
      <p:pic>
        <p:nvPicPr>
          <p:cNvPr id="8" name="Picture 7" descr="myco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512064"/>
            <a:ext cx="3264408" cy="5394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Segoe UI"/>
              </a:defRPr>
            </a:pPr>
            <a:r>
              <a:t>CONFIDENTIAL INFORMATION, RESTRICTED TO MYCOM</a:t>
            </a:r>
          </a:p>
        </p:txBody>
      </p:sp>
      <p:pic>
        <p:nvPicPr>
          <p:cNvPr id="10" name="Picture 9" descr="myco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28232"/>
            <a:ext cx="1682496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6373368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Segoe UI"/>
              </a:defRPr>
            </a:pPr>
            <a:r>
              <a:t>© MYCOM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Why traditional synchronous APIs fall short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Segoe UI"/>
              </a:defRPr>
            </a:pPr>
            <a:r>
              <a:t>2</a:t>
            </a:r>
          </a:p>
        </p:txBody>
      </p:sp>
      <p:pic>
        <p:nvPicPr>
          <p:cNvPr id="6" name="Picture 5" descr="myco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28232"/>
            <a:ext cx="1682496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" y="6373368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Segoe UI"/>
              </a:defRPr>
            </a:pPr>
            <a:r>
              <a:t>© MYCOM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10515600" cy="960120"/>
          </a:xfrm>
          <a:prstGeom prst="rect">
            <a:avLst/>
          </a:prstGeom>
          <a:solidFill>
            <a:srgbClr val="23274A"/>
          </a:solidFill>
          <a:ln w="1270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087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EFF"/>
                </a:solidFill>
                <a:latin typeface="Segoe UI"/>
              </a:defRPr>
            </a:pPr>
            <a:r>
              <a:t>UI Blocking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0624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Synchronous REST calls lock the browser thread during</a:t>
            </a:r>
            <a:br/>
            <a:r>
              <a:t>long-running bulk operations (network create/update/delete).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108960"/>
            <a:ext cx="10515600" cy="960120"/>
          </a:xfrm>
          <a:prstGeom prst="rect">
            <a:avLst/>
          </a:prstGeom>
          <a:solidFill>
            <a:srgbClr val="23274A"/>
          </a:solidFill>
          <a:ln w="1270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185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EFF"/>
                </a:solidFill>
                <a:latin typeface="Segoe UI"/>
              </a:defRPr>
            </a:pPr>
            <a:r>
              <a:t>Poor User 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15976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Users see a spinner for 1-3 minutes with no progress</a:t>
            </a:r>
            <a:br/>
            <a:r>
              <a:t>information, leading to repeated clicks or tab closures.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206240"/>
            <a:ext cx="10515600" cy="960120"/>
          </a:xfrm>
          <a:prstGeom prst="rect">
            <a:avLst/>
          </a:prstGeom>
          <a:solidFill>
            <a:srgbClr val="23274A"/>
          </a:solidFill>
          <a:ln w="1270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282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EFF"/>
                </a:solidFill>
                <a:latin typeface="Segoe UI"/>
              </a:defRPr>
            </a:pPr>
            <a:r>
              <a:t>Timeout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2570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HTTP connections may timeout before the operation completes,</a:t>
            </a:r>
            <a:br/>
            <a:r>
              <a:t>leaving the user unaware of the actual result.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303520"/>
            <a:ext cx="10515600" cy="960120"/>
          </a:xfrm>
          <a:prstGeom prst="rect">
            <a:avLst/>
          </a:prstGeom>
          <a:solidFill>
            <a:srgbClr val="23274A"/>
          </a:solidFill>
          <a:ln w="1270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379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EFF"/>
                </a:solidFill>
                <a:latin typeface="Segoe UI"/>
              </a:defRPr>
            </a:pPr>
            <a:r>
              <a:t>No Progress Visibility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35432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Traditional request-response gives zero intermediate</a:t>
            </a:r>
            <a:br/>
            <a:r>
              <a:t>feedback — it is all-or-nothing.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Traditional Approaches &amp;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Segoe UI"/>
              </a:defRPr>
            </a:pPr>
            <a:r>
              <a:t>3</a:t>
            </a:r>
          </a:p>
        </p:txBody>
      </p:sp>
      <p:pic>
        <p:nvPicPr>
          <p:cNvPr id="5" name="Picture 4" descr="myco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28232"/>
            <a:ext cx="1682496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" y="6373368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Segoe UI"/>
              </a:defRPr>
            </a:pPr>
            <a:r>
              <a:t>© MYCOM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1433576"/>
            <a:ext cx="3383280" cy="4114800"/>
          </a:xfrm>
          <a:prstGeom prst="rect">
            <a:avLst/>
          </a:prstGeom>
          <a:solidFill>
            <a:srgbClr val="23274A"/>
          </a:solidFill>
          <a:ln w="1270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D4D"/>
                </a:solidFill>
                <a:latin typeface="Segoe UI"/>
              </a:defRPr>
            </a:pPr>
            <a:r>
              <a:t>Blocking 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• Client waits for full response — 1-3 min freeze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• Single timeout kills entire operation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• No intermediate progress feedback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433576"/>
            <a:ext cx="3383280" cy="4114800"/>
          </a:xfrm>
          <a:prstGeom prst="rect">
            <a:avLst/>
          </a:prstGeom>
          <a:solidFill>
            <a:srgbClr val="23274A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1965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A00"/>
                </a:solidFill>
                <a:latin typeface="Segoe UI"/>
              </a:defRPr>
            </a:pPr>
            <a:r>
              <a:t>Polling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56032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• Client repeatedly hits GET /status every N seconds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• Wastes bandwidth &amp; server resources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• Delayed feedback (up to N-second lag)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433576"/>
            <a:ext cx="3383280" cy="4114800"/>
          </a:xfrm>
          <a:prstGeom prst="rect">
            <a:avLst/>
          </a:prstGeom>
          <a:solidFill>
            <a:srgbClr val="23274A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965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A00"/>
                </a:solidFill>
                <a:latin typeface="Segoe UI"/>
              </a:defRPr>
            </a:pPr>
            <a:r>
              <a:t>WebSockets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56032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• Full-duplex — overkill for unidirectional server push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• Complex connection lifecycle management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• Harder to scale behind load balancers &amp; proxies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5869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Segoe UI"/>
              </a:defRPr>
            </a:pPr>
            <a:r>
              <a:rPr dirty="0"/>
              <a:t>Verdict: SSE provides lightweight, server-to-client streaming with automatic reconnection — ideal for progress updates.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Solution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Non-blocking architecture with SSE-based progress 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Segoe UI"/>
              </a:defRPr>
            </a:pPr>
            <a:r>
              <a:t>4</a:t>
            </a:r>
          </a:p>
        </p:txBody>
      </p:sp>
      <p:pic>
        <p:nvPicPr>
          <p:cNvPr id="6" name="Picture 5" descr="myco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28232"/>
            <a:ext cx="1682496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" y="6373368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Segoe UI"/>
              </a:defRPr>
            </a:pPr>
            <a:r>
              <a:t>© MYCOM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2651760" cy="2743200"/>
          </a:xfrm>
          <a:prstGeom prst="rect">
            <a:avLst/>
          </a:prstGeom>
          <a:solidFill>
            <a:srgbClr val="23274A"/>
          </a:solidFill>
          <a:ln w="1270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EFF"/>
                </a:solidFill>
                <a:latin typeface="Segoe UI"/>
              </a:defRPr>
            </a:pPr>
            <a:r>
              <a:t>Fire-and-Forget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Client sends command,</a:t>
            </a:r>
            <a:br/>
            <a:r>
              <a:t>gets 202 Accepted</a:t>
            </a:r>
            <a:br/>
            <a:r>
              <a:t>with a Task ID instantly.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2103120"/>
            <a:ext cx="2651760" cy="2743200"/>
          </a:xfrm>
          <a:prstGeom prst="rect">
            <a:avLst/>
          </a:prstGeom>
          <a:solidFill>
            <a:srgbClr val="23274A"/>
          </a:solidFill>
          <a:ln w="1270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188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EFF"/>
                </a:solidFill>
                <a:latin typeface="Segoe UI"/>
              </a:defRPr>
            </a:pPr>
            <a:r>
              <a:t>Async Execution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9260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Spring Boot processes</a:t>
            </a:r>
            <a:br/>
            <a:r>
              <a:t>the operation on a</a:t>
            </a:r>
            <a:br/>
            <a:r>
              <a:t>dedicated thread pool.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103120"/>
            <a:ext cx="2651760" cy="2743200"/>
          </a:xfrm>
          <a:prstGeom prst="rect">
            <a:avLst/>
          </a:prstGeom>
          <a:solidFill>
            <a:srgbClr val="23274A"/>
          </a:solidFill>
          <a:ln w="1270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EFF"/>
                </a:solidFill>
                <a:latin typeface="Segoe UI"/>
              </a:defRPr>
            </a:pPr>
            <a:r>
              <a:t>SSE Streaming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9260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Real-time progress</a:t>
            </a:r>
            <a:br/>
            <a:r>
              <a:t>events pushed to the</a:t>
            </a:r>
            <a:br/>
            <a:r>
              <a:t>client via EventSource.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2103120"/>
            <a:ext cx="2651760" cy="2743200"/>
          </a:xfrm>
          <a:prstGeom prst="rect">
            <a:avLst/>
          </a:prstGeom>
          <a:solidFill>
            <a:srgbClr val="23274A"/>
          </a:solidFill>
          <a:ln w="1270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7260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EFF"/>
                </a:solidFill>
                <a:latin typeface="Segoe UI"/>
              </a:defRPr>
            </a:pPr>
            <a:r>
              <a:t>Optimistic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9260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React updates the UI</a:t>
            </a:r>
            <a:br/>
            <a:r>
              <a:t>immediately — pending</a:t>
            </a:r>
            <a:br/>
            <a:r>
              <a:t>state shown until done.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Key Result: The user interface remains fully responsive throughout multi-minute operations,</a:t>
            </a:r>
            <a:br/>
            <a:r>
              <a:t>with a live progress bar and contextual messages at every stage.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High-Level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End-to-end component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Segoe UI"/>
              </a:defRPr>
            </a:pPr>
            <a:r>
              <a:t>5</a:t>
            </a:r>
          </a:p>
        </p:txBody>
      </p:sp>
      <p:pic>
        <p:nvPicPr>
          <p:cNvPr id="6" name="Picture 5" descr="myco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28232"/>
            <a:ext cx="1682496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" y="6373368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Segoe UI"/>
              </a:defRPr>
            </a:pPr>
            <a:r>
              <a:t>© MYCOM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60320"/>
            <a:ext cx="2743200" cy="2011680"/>
          </a:xfrm>
          <a:prstGeom prst="rect">
            <a:avLst/>
          </a:prstGeom>
          <a:solidFill>
            <a:srgbClr val="23274A"/>
          </a:solidFill>
          <a:ln w="1270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611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FF"/>
                </a:solidFill>
                <a:latin typeface="Segoe UI"/>
              </a:defRPr>
            </a:pPr>
            <a:r>
              <a:t>React 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• NetworkList, NetworkForm</a:t>
            </a:r>
            <a:br/>
            <a:r>
              <a:t>• TaskContext (global state)</a:t>
            </a:r>
            <a:br/>
            <a:r>
              <a:t>• SSEManager (EventSource)</a:t>
            </a:r>
            <a:br/>
            <a:r>
              <a:t>• Mock-data fallback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2103120"/>
            <a:ext cx="2926080" cy="1188720"/>
          </a:xfrm>
          <a:prstGeom prst="rect">
            <a:avLst/>
          </a:prstGeom>
          <a:solidFill>
            <a:srgbClr val="23274A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00600" y="21539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Segoe UI"/>
              </a:defRPr>
            </a:pPr>
            <a:r>
              <a:t>Spring Boot — 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5146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• NetworkController (CRUD)</a:t>
            </a:r>
            <a:br/>
            <a:r>
              <a:t>• TaskController (SSE stream)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3657600"/>
            <a:ext cx="2926080" cy="1188720"/>
          </a:xfrm>
          <a:prstGeom prst="rect">
            <a:avLst/>
          </a:prstGeom>
          <a:solidFill>
            <a:srgbClr val="23274A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00600" y="37084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A00"/>
                </a:solidFill>
                <a:latin typeface="Segoe UI"/>
              </a:defRPr>
            </a:pPr>
            <a:r>
              <a:t>Spring Boot — Async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40690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• TaskService (@Async)</a:t>
            </a:r>
            <a:br/>
            <a:r>
              <a:t>• ThreadPool: 5-10 threads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2560320"/>
            <a:ext cx="2743200" cy="2011680"/>
          </a:xfrm>
          <a:prstGeom prst="rect">
            <a:avLst/>
          </a:prstGeom>
          <a:solidFill>
            <a:srgbClr val="23274A"/>
          </a:solidFill>
          <a:ln w="1270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98280" y="2611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D4D"/>
                </a:solidFill>
                <a:latin typeface="Segoe UI"/>
              </a:defRPr>
            </a:pPr>
            <a:r>
              <a:t>MySQL 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97180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• networks table</a:t>
            </a:r>
            <a:br/>
            <a:r>
              <a:t>• JPA / Hibernate ORM</a:t>
            </a:r>
            <a:br/>
            <a:r>
              <a:t>• Status enum constraint</a:t>
            </a:r>
            <a:br/>
            <a:r>
              <a:t>• ddl-auto=validate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2286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EFF"/>
                </a:solidFill>
                <a:latin typeface="Segoe UI"/>
              </a:defRPr>
            </a:pPr>
            <a:r>
              <a:t>REST + SSE  --&gt;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926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76"/>
                </a:solidFill>
                <a:latin typeface="Segoe UI"/>
              </a:defRPr>
            </a:pPr>
            <a:r>
              <a:t>JPA  --&gt;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303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Segoe UI"/>
              </a:defRPr>
            </a:pPr>
            <a:r>
              <a:t>Communication: REST (commands) + SSE (progress) | CORS enabled for localhost:3000 --&gt; localhost:8080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Backend Design — Spring Boot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Controllers, async services, SSE emitter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Segoe UI"/>
              </a:defRPr>
            </a:pPr>
            <a:r>
              <a:t>6</a:t>
            </a:r>
          </a:p>
        </p:txBody>
      </p:sp>
      <p:pic>
        <p:nvPicPr>
          <p:cNvPr id="6" name="Picture 5" descr="myco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28232"/>
            <a:ext cx="1682496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" y="6373368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Segoe UI"/>
              </a:defRPr>
            </a:pPr>
            <a:r>
              <a:t>© MYCOM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EFF"/>
                </a:solidFill>
                <a:latin typeface="Segoe UI"/>
              </a:defRPr>
            </a:pPr>
            <a:r>
              <a:t>Controllers &amp;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• NetworkController — synchronous reads (GET), async writes (POST/PUT/DELETE return 202)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• TaskController — exposes GET /api/tasks/{taskId}/progress as text/event-stream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• NetworkService — CRUD via Spring Data JPA (NetworkRepository)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• TaskService — creates tasks, manages ConcurrentHashMap&lt;taskId, SseEmitter&gt;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Segoe UI"/>
              </a:defRPr>
            </a:pPr>
            <a:r>
              <a:t>Threading &amp; SSE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031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• @Async("taskExecutor") — methods run on dedicated thread pool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• ThreadPoolTaskExecutor: core=5, max=10, queue=25, prefix="NetworkTask-"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• SseEmitter timeout: 300 000 ms (5 minutes)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• Lifecycle callbacks: onCompletion / onTimeout / onError clean up emitter map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• Events emitted: default (progress), 'complete', 'error'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SSE Workflow — Sequence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From user click to completion event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Segoe UI"/>
              </a:defRPr>
            </a:pPr>
            <a:r>
              <a:t>8</a:t>
            </a:r>
          </a:p>
        </p:txBody>
      </p:sp>
      <p:pic>
        <p:nvPicPr>
          <p:cNvPr id="6" name="Picture 5" descr="myco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28232"/>
            <a:ext cx="1682496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" y="6373368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Segoe UI"/>
              </a:defRPr>
            </a:pPr>
            <a:r>
              <a:t>© MYCOM Confidential</a:t>
            </a:r>
          </a:p>
        </p:txBody>
      </p:sp>
      <p:sp>
        <p:nvSpPr>
          <p:cNvPr id="8" name="Terminator 7"/>
          <p:cNvSpPr/>
          <p:nvPr/>
        </p:nvSpPr>
        <p:spPr>
          <a:xfrm>
            <a:off x="548640" y="1828800"/>
            <a:ext cx="2103120" cy="1097280"/>
          </a:xfrm>
          <a:prstGeom prst="flowChartTerminator">
            <a:avLst/>
          </a:prstGeom>
          <a:solidFill>
            <a:srgbClr val="23274A"/>
          </a:solidFill>
          <a:ln w="2540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9EFF"/>
                </a:solidFill>
                <a:latin typeface="Segoe UI"/>
              </a:defRPr>
            </a:pPr>
            <a:r>
              <a:t>1. User Action</a:t>
            </a:r>
          </a:p>
          <a:p>
            <a:pPr algn="ctr">
              <a:defRPr sz="900">
                <a:solidFill>
                  <a:srgbClr val="CCCCCC"/>
                </a:solidFill>
                <a:latin typeface="Segoe UI"/>
              </a:defRPr>
            </a:pPr>
            <a:r>
              <a:t>Click Create / Update</a:t>
            </a:r>
            <a:br/>
            <a:r>
              <a:t>/ Delete in React UI</a:t>
            </a:r>
          </a:p>
        </p:txBody>
      </p:sp>
      <p:sp>
        <p:nvSpPr>
          <p:cNvPr id="9" name="Data 8"/>
          <p:cNvSpPr/>
          <p:nvPr/>
        </p:nvSpPr>
        <p:spPr>
          <a:xfrm>
            <a:off x="3200400" y="1828800"/>
            <a:ext cx="2103120" cy="1097280"/>
          </a:xfrm>
          <a:prstGeom prst="flowChartInputOutput">
            <a:avLst/>
          </a:prstGeom>
          <a:solidFill>
            <a:srgbClr val="23274A"/>
          </a:solidFill>
          <a:ln w="2540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9EFF"/>
                </a:solidFill>
                <a:latin typeface="Segoe UI"/>
              </a:defRPr>
            </a:pPr>
            <a:r>
              <a:t>2. REST Call (202)</a:t>
            </a:r>
          </a:p>
          <a:p>
            <a:pPr algn="ctr">
              <a:defRPr sz="900">
                <a:solidFill>
                  <a:srgbClr val="CCCCCC"/>
                </a:solidFill>
                <a:latin typeface="Segoe UI"/>
              </a:defRPr>
            </a:pPr>
            <a:r>
              <a:t>POST /api/networks</a:t>
            </a:r>
            <a:br/>
            <a:r>
              <a:t>→ 202 Accepted + taskId</a:t>
            </a:r>
          </a:p>
        </p:txBody>
      </p:sp>
      <p:sp>
        <p:nvSpPr>
          <p:cNvPr id="10" name="Process 9"/>
          <p:cNvSpPr/>
          <p:nvPr/>
        </p:nvSpPr>
        <p:spPr>
          <a:xfrm>
            <a:off x="5852160" y="1828800"/>
            <a:ext cx="2103120" cy="1097280"/>
          </a:xfrm>
          <a:prstGeom prst="flowChartProcess">
            <a:avLst/>
          </a:prstGeom>
          <a:solidFill>
            <a:srgbClr val="23274A"/>
          </a:solidFill>
          <a:ln w="2540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9EFF"/>
                </a:solidFill>
                <a:latin typeface="Segoe UI"/>
              </a:defRPr>
            </a:pPr>
            <a:r>
              <a:t>3. SSE Subscribe</a:t>
            </a:r>
          </a:p>
          <a:p>
            <a:pPr algn="ctr">
              <a:defRPr sz="900">
                <a:solidFill>
                  <a:srgbClr val="CCCCCC"/>
                </a:solidFill>
                <a:latin typeface="Segoe UI"/>
              </a:defRPr>
            </a:pPr>
            <a:r>
              <a:t>Open EventSource to</a:t>
            </a:r>
            <a:br/>
            <a:r>
              <a:t>/api/tasks/{id}/progress</a:t>
            </a:r>
          </a:p>
        </p:txBody>
      </p:sp>
      <p:sp>
        <p:nvSpPr>
          <p:cNvPr id="11" name="Predefined Process 10"/>
          <p:cNvSpPr/>
          <p:nvPr/>
        </p:nvSpPr>
        <p:spPr>
          <a:xfrm>
            <a:off x="8503920" y="1828800"/>
            <a:ext cx="2103120" cy="1097280"/>
          </a:xfrm>
          <a:prstGeom prst="flowChartPredefinedProcess">
            <a:avLst/>
          </a:prstGeom>
          <a:solidFill>
            <a:srgbClr val="23274A"/>
          </a:solidFill>
          <a:ln w="2540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9EFF"/>
                </a:solidFill>
                <a:latin typeface="Segoe UI"/>
              </a:defRPr>
            </a:pPr>
            <a:r>
              <a:t>4. Async Execution</a:t>
            </a:r>
          </a:p>
          <a:p>
            <a:pPr algn="ctr">
              <a:defRPr sz="900">
                <a:solidFill>
                  <a:srgbClr val="CCCCCC"/>
                </a:solidFill>
                <a:latin typeface="Segoe UI"/>
              </a:defRPr>
            </a:pPr>
            <a:r>
              <a:t>@Async thread starts</a:t>
            </a:r>
            <a:br/>
            <a:r>
              <a:t>1-3 min duration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51760" y="2258568"/>
            <a:ext cx="548640" cy="237744"/>
          </a:xfrm>
          <a:prstGeom prst="rightArrow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5303520" y="2258568"/>
            <a:ext cx="548640" cy="237744"/>
          </a:xfrm>
          <a:prstGeom prst="rightArrow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7955280" y="2258568"/>
            <a:ext cx="548640" cy="237744"/>
          </a:xfrm>
          <a:prstGeom prst="rightArrow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Down Arrow 14"/>
          <p:cNvSpPr/>
          <p:nvPr/>
        </p:nvSpPr>
        <p:spPr>
          <a:xfrm>
            <a:off x="9436608" y="2926080"/>
            <a:ext cx="237744" cy="1371600"/>
          </a:xfrm>
          <a:prstGeom prst="downArrow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Multidocument 15"/>
          <p:cNvSpPr/>
          <p:nvPr/>
        </p:nvSpPr>
        <p:spPr>
          <a:xfrm>
            <a:off x="8503920" y="4297680"/>
            <a:ext cx="2103120" cy="1097280"/>
          </a:xfrm>
          <a:prstGeom prst="flowChartMultidocument">
            <a:avLst/>
          </a:prstGeom>
          <a:solidFill>
            <a:srgbClr val="23274A"/>
          </a:solidFill>
          <a:ln w="2540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9EFF"/>
                </a:solidFill>
                <a:latin typeface="Segoe UI"/>
              </a:defRPr>
            </a:pPr>
            <a:r>
              <a:t>5. Progress Events</a:t>
            </a:r>
          </a:p>
          <a:p>
            <a:pPr algn="ctr">
              <a:defRPr sz="900">
                <a:solidFill>
                  <a:srgbClr val="CCCCCC"/>
                </a:solidFill>
                <a:latin typeface="Segoe UI"/>
              </a:defRPr>
            </a:pPr>
            <a:r>
              <a:t>SseEmitter.send()</a:t>
            </a:r>
            <a:br/>
            <a:r>
              <a:t>every 3 seconds</a:t>
            </a:r>
          </a:p>
        </p:txBody>
      </p:sp>
      <p:sp>
        <p:nvSpPr>
          <p:cNvPr id="17" name="Magnetic Disk 16"/>
          <p:cNvSpPr/>
          <p:nvPr/>
        </p:nvSpPr>
        <p:spPr>
          <a:xfrm>
            <a:off x="5852160" y="4297680"/>
            <a:ext cx="2103120" cy="1097280"/>
          </a:xfrm>
          <a:prstGeom prst="flowChartMagneticDisk">
            <a:avLst/>
          </a:prstGeom>
          <a:solidFill>
            <a:srgbClr val="23274A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E676"/>
                </a:solidFill>
                <a:latin typeface="Segoe UI"/>
              </a:defRPr>
            </a:pPr>
            <a:r>
              <a:t>6. DB Persist</a:t>
            </a:r>
          </a:p>
          <a:p>
            <a:pPr algn="ctr">
              <a:defRPr sz="900">
                <a:solidFill>
                  <a:srgbClr val="CCCCCC"/>
                </a:solidFill>
                <a:latin typeface="Segoe UI"/>
              </a:defRPr>
            </a:pPr>
            <a:r>
              <a:t>networkRepository</a:t>
            </a:r>
            <a:br/>
            <a:r>
              <a:t>.save() → MySQL</a:t>
            </a:r>
          </a:p>
        </p:txBody>
      </p:sp>
      <p:sp>
        <p:nvSpPr>
          <p:cNvPr id="18" name="Document 17"/>
          <p:cNvSpPr/>
          <p:nvPr/>
        </p:nvSpPr>
        <p:spPr>
          <a:xfrm>
            <a:off x="3200400" y="4297680"/>
            <a:ext cx="2103120" cy="1097280"/>
          </a:xfrm>
          <a:prstGeom prst="flowChartDocument">
            <a:avLst/>
          </a:prstGeom>
          <a:solidFill>
            <a:srgbClr val="23274A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E676"/>
                </a:solidFill>
                <a:latin typeface="Segoe UI"/>
              </a:defRPr>
            </a:pPr>
            <a:r>
              <a:t>7. Complete Event</a:t>
            </a:r>
          </a:p>
          <a:p>
            <a:pPr algn="ctr">
              <a:defRPr sz="900">
                <a:solidFill>
                  <a:srgbClr val="CCCCCC"/>
                </a:solidFill>
                <a:latin typeface="Segoe UI"/>
              </a:defRPr>
            </a:pPr>
            <a:r>
              <a:t>SSE 'complete' event</a:t>
            </a:r>
            <a:br/>
            <a:r>
              <a:t>stream closes</a:t>
            </a:r>
          </a:p>
        </p:txBody>
      </p:sp>
      <p:sp>
        <p:nvSpPr>
          <p:cNvPr id="19" name="Terminator 18"/>
          <p:cNvSpPr/>
          <p:nvPr/>
        </p:nvSpPr>
        <p:spPr>
          <a:xfrm>
            <a:off x="548640" y="4297680"/>
            <a:ext cx="2103120" cy="1097280"/>
          </a:xfrm>
          <a:prstGeom prst="flowChartTerminator">
            <a:avLst/>
          </a:prstGeom>
          <a:solidFill>
            <a:srgbClr val="23274A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E676"/>
                </a:solidFill>
                <a:latin typeface="Segoe UI"/>
              </a:defRPr>
            </a:pPr>
            <a:r>
              <a:t>8. UI Refresh</a:t>
            </a:r>
          </a:p>
          <a:p>
            <a:pPr algn="ctr">
              <a:defRPr sz="900">
                <a:solidFill>
                  <a:srgbClr val="CCCCCC"/>
                </a:solidFill>
                <a:latin typeface="Segoe UI"/>
              </a:defRPr>
            </a:pPr>
            <a:r>
              <a:t>TASK_COMPLETED</a:t>
            </a:r>
            <a:br/>
            <a:r>
              <a:t>fetch fresh data</a:t>
            </a:r>
          </a:p>
        </p:txBody>
      </p:sp>
      <p:sp>
        <p:nvSpPr>
          <p:cNvPr id="20" name="Left Arrow 19"/>
          <p:cNvSpPr/>
          <p:nvPr/>
        </p:nvSpPr>
        <p:spPr>
          <a:xfrm>
            <a:off x="7955280" y="4727448"/>
            <a:ext cx="548640" cy="237744"/>
          </a:xfrm>
          <a:prstGeom prst="leftArrow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Left Arrow 20"/>
          <p:cNvSpPr/>
          <p:nvPr/>
        </p:nvSpPr>
        <p:spPr>
          <a:xfrm>
            <a:off x="5303520" y="4727448"/>
            <a:ext cx="548640" cy="237744"/>
          </a:xfrm>
          <a:prstGeom prst="leftArrow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Left Arrow 21"/>
          <p:cNvSpPr/>
          <p:nvPr/>
        </p:nvSpPr>
        <p:spPr>
          <a:xfrm>
            <a:off x="2651760" y="4727448"/>
            <a:ext cx="548640" cy="237744"/>
          </a:xfrm>
          <a:prstGeom prst="leftArrow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Frontend Design — React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Component architecture, SSE integration, mock fallback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Segoe UI"/>
              </a:defRPr>
            </a:pPr>
            <a:r>
              <a:t>9</a:t>
            </a:r>
          </a:p>
        </p:txBody>
      </p:sp>
      <p:pic>
        <p:nvPicPr>
          <p:cNvPr id="6" name="Picture 5" descr="myco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28232"/>
            <a:ext cx="1682496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" y="6373368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Segoe UI"/>
              </a:defRPr>
            </a:pPr>
            <a:r>
              <a:t>© MYCOM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EFF"/>
                </a:solidFill>
                <a:latin typeface="Segoe UI"/>
              </a:defRPr>
            </a:pPr>
            <a:r>
              <a:t>UI Components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• NetworkList — grid of network cards with pending-state overlay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• NetworkForm — validated create/edit modal (CIDR regex, required fields)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• NetworkDetails — full view with edit/delete actions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• TaskProgressPanel — floating panel showing all active + recent tasks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• TaskItem + ProgressBar — per-task live progress display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Segoe UI"/>
              </a:defRPr>
            </a:pPr>
            <a:r>
              <a:t>SSE &amp; State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031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• SSEManager class wraps EventSource with reconnect logic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• Exponential backoff: 1s -&gt; 2s -&gt; 4s -&gt; 8s -&gt; 16s (max 5 retries)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• TaskContext (React Context + useReducer) — global task state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• Actions: TASK_STARTED, TASK_PROGRESS, TASK_COMPLETED, TASK_FAILED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• networkService.js — tries backend, falls back to mockNetworks.js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• REACT_APP_USE_MOCK=true activates MockSSEConnection (10% failure sim)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Limitations of SSE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Trade-offs to consider when choosing Server-Sent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Segoe UI"/>
              </a:defRPr>
            </a:pPr>
            <a:r>
              <a:t>11</a:t>
            </a:r>
          </a:p>
        </p:txBody>
      </p:sp>
      <p:pic>
        <p:nvPicPr>
          <p:cNvPr id="6" name="Picture 5" descr="myco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28232"/>
            <a:ext cx="1682496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" y="6373368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Segoe UI"/>
              </a:defRPr>
            </a:pPr>
            <a:r>
              <a:t>© MYCOM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10515600" cy="804672"/>
          </a:xfrm>
          <a:prstGeom prst="rect">
            <a:avLst/>
          </a:prstGeom>
          <a:solidFill>
            <a:srgbClr val="23274A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96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A00"/>
                </a:solidFill>
                <a:latin typeface="Segoe UI"/>
              </a:defRPr>
            </a:pPr>
            <a:r>
              <a:t>Unidirectional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94564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SSE is server-to-client only — the client cannot send data</a:t>
            </a:r>
            <a:br/>
            <a:r>
              <a:t>back over the same connection. A separate REST call is needed</a:t>
            </a:r>
            <a:br/>
            <a:r>
              <a:t>for every client action.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788920"/>
            <a:ext cx="10515600" cy="804672"/>
          </a:xfrm>
          <a:prstGeom prst="rect">
            <a:avLst/>
          </a:prstGeom>
          <a:solidFill>
            <a:srgbClr val="23274A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865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A00"/>
                </a:solidFill>
                <a:latin typeface="Segoe UI"/>
              </a:defRPr>
            </a:pPr>
            <a:r>
              <a:t>Browser Connection Limit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8143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HTTP/1.1 allows only ~6 concurrent connections per domain.</a:t>
            </a:r>
            <a:br/>
            <a:r>
              <a:t>Each SSE stream occupies one, starving other requests.</a:t>
            </a:r>
            <a:br/>
            <a:r>
              <a:t>HTTP/2 multiplexing mitigates this.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657600"/>
            <a:ext cx="10515600" cy="804672"/>
          </a:xfrm>
          <a:prstGeom prst="rect">
            <a:avLst/>
          </a:prstGeom>
          <a:solidFill>
            <a:srgbClr val="23274A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733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A00"/>
                </a:solidFill>
                <a:latin typeface="Segoe UI"/>
              </a:defRPr>
            </a:pPr>
            <a:r>
              <a:t>Text Only — No Binary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68300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SSE transmits UTF-8 text exclusively. Binary payloads</a:t>
            </a:r>
            <a:br/>
            <a:r>
              <a:t>(images, protobuf) must be Base64-encoded, adding ~33% overhead.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526280"/>
            <a:ext cx="10515600" cy="804672"/>
          </a:xfrm>
          <a:prstGeom prst="rect">
            <a:avLst/>
          </a:prstGeom>
          <a:solidFill>
            <a:srgbClr val="23274A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602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A00"/>
                </a:solidFill>
                <a:latin typeface="Segoe UI"/>
              </a:defRPr>
            </a:pPr>
            <a:r>
              <a:t>No Custom Headers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5516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The browser EventSource API does not support custom HTTP</a:t>
            </a:r>
            <a:br/>
            <a:r>
              <a:t>headers (e.g., Authorization: Bearer). Tokens must be passed</a:t>
            </a:r>
            <a:br/>
            <a:r>
              <a:t>via query params or cookies.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394960"/>
            <a:ext cx="10515600" cy="804672"/>
          </a:xfrm>
          <a:prstGeom prst="rect">
            <a:avLst/>
          </a:prstGeom>
          <a:solidFill>
            <a:srgbClr val="23274A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5471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A00"/>
                </a:solidFill>
                <a:latin typeface="Segoe UI"/>
              </a:defRPr>
            </a:pPr>
            <a:r>
              <a:t>Proxy &amp; Firewall Buffering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542036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Corporate proxies and CDNs may buffer or terminate long-lived</a:t>
            </a:r>
            <a:br/>
            <a:r>
              <a:t>HTTP connections, breaking the event stream silently.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Benefits &amp;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Segoe UI"/>
              </a:defRPr>
            </a:pPr>
            <a:r>
              <a:t>12</a:t>
            </a:r>
          </a:p>
        </p:txBody>
      </p:sp>
      <p:pic>
        <p:nvPicPr>
          <p:cNvPr id="5" name="Picture 4" descr="myco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28232"/>
            <a:ext cx="1682496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" y="6373368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Segoe UI"/>
              </a:defRPr>
            </a:pPr>
            <a:r>
              <a:t>© MYCOM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109728" cy="77724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854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76"/>
                </a:solidFill>
                <a:latin typeface="Segoe UI"/>
              </a:defRPr>
            </a:pPr>
            <a:r>
              <a:t>Responsive 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85420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Zero UI blocking — users interact freely during</a:t>
            </a:r>
            <a:br/>
            <a:r>
              <a:t>multi-minute operations with live progress feedback.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97480"/>
            <a:ext cx="109728" cy="77724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2722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76"/>
                </a:solidFill>
                <a:latin typeface="Segoe UI"/>
              </a:defRPr>
            </a:pPr>
            <a:r>
              <a:t>Scalable Async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228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ThreadPoolTaskExecutor isolates long-running work.</a:t>
            </a:r>
            <a:br/>
            <a:r>
              <a:t>5 core + 10 max threads with 25-task queue.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566160"/>
            <a:ext cx="109728" cy="77724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3591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76"/>
                </a:solidFill>
                <a:latin typeface="Segoe UI"/>
              </a:defRPr>
            </a:pPr>
            <a:r>
              <a:t>Clean Separation of Concerns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59156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REST for commands, SSE for events, React Context</a:t>
            </a:r>
            <a:br/>
            <a:r>
              <a:t>for state — each layer independently testable.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434840"/>
            <a:ext cx="109728" cy="77724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446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76"/>
                </a:solidFill>
                <a:latin typeface="Segoe UI"/>
              </a:defRPr>
            </a:pPr>
            <a:r>
              <a:t>Resilient by Default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46024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Automatic mock fallback, SSE reconnect, optimistic</a:t>
            </a:r>
            <a:br/>
            <a:r>
              <a:t>UI — the app degrades gracefully, never crashes.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303520"/>
            <a:ext cx="109728" cy="77724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5328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76"/>
                </a:solidFill>
                <a:latin typeface="Segoe UI"/>
              </a:defRPr>
            </a:pPr>
            <a:r>
              <a:t>Production-Ready Patterns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3289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ConcurrentHashMap, @Async, SseEmitter lifecycle</a:t>
            </a:r>
            <a:br/>
            <a:r>
              <a:t>callbacks, CORS config, enum-safe status handling.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Roadmap for production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Segoe UI"/>
              </a:defRPr>
            </a:pPr>
            <a:r>
              <a:t>13</a:t>
            </a:r>
          </a:p>
        </p:txBody>
      </p:sp>
      <p:pic>
        <p:nvPicPr>
          <p:cNvPr id="6" name="Picture 5" descr="myco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28232"/>
            <a:ext cx="1682496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" y="6373368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Segoe UI"/>
              </a:defRPr>
            </a:pPr>
            <a:r>
              <a:t>© MYCOM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10515600" cy="658368"/>
          </a:xfrm>
          <a:prstGeom prst="rect">
            <a:avLst/>
          </a:prstGeom>
          <a:solidFill>
            <a:srgbClr val="23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879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FF"/>
                </a:solidFill>
                <a:latin typeface="Segoe UI"/>
              </a:defRPr>
            </a:pPr>
            <a:r>
              <a:t>Retry &amp; Resume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8796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Persist TaskInfo to DB so operations can resume after crash or restart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578608"/>
            <a:ext cx="10515600" cy="658368"/>
          </a:xfrm>
          <a:prstGeom prst="rect">
            <a:avLst/>
          </a:prstGeom>
          <a:solidFill>
            <a:srgbClr val="23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62940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FF"/>
                </a:solidFill>
                <a:latin typeface="Segoe UI"/>
              </a:defRPr>
            </a:pPr>
            <a:r>
              <a:t>Progress Across Refresh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62940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Store task state in localStorage / sessionStorage for cross-tab continuity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328416"/>
            <a:ext cx="10515600" cy="658368"/>
          </a:xfrm>
          <a:prstGeom prst="rect">
            <a:avLst/>
          </a:prstGeom>
          <a:solidFill>
            <a:srgbClr val="23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37921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FF"/>
                </a:solidFill>
                <a:latin typeface="Segoe UI"/>
              </a:defRPr>
            </a:pPr>
            <a:r>
              <a:t>Auth &amp; 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379216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JWT/OAuth2 on REST + SSE endpoints; role-based operation permissions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078224"/>
            <a:ext cx="10515600" cy="658368"/>
          </a:xfrm>
          <a:prstGeom prst="rect">
            <a:avLst/>
          </a:prstGeom>
          <a:solidFill>
            <a:srgbClr val="23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12902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FF"/>
                </a:solidFill>
                <a:latin typeface="Segoe UI"/>
              </a:defRPr>
            </a:pPr>
            <a:r>
              <a:t>Message Broker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129024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Kafka or RabbitMQ decouples task creation from execution — enables horizontal scaling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828032"/>
            <a:ext cx="10515600" cy="658368"/>
          </a:xfrm>
          <a:prstGeom prst="rect">
            <a:avLst/>
          </a:prstGeom>
          <a:solidFill>
            <a:srgbClr val="23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87883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FF"/>
                </a:solidFill>
                <a:latin typeface="Segoe UI"/>
              </a:defRPr>
            </a:pPr>
            <a:r>
              <a:t>Bulk Selection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878832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Multi-select networks for batch delete/update as a single tracked operation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577840"/>
            <a:ext cx="10515600" cy="658368"/>
          </a:xfrm>
          <a:prstGeom prst="rect">
            <a:avLst/>
          </a:prstGeom>
          <a:solidFill>
            <a:srgbClr val="23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5628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FF"/>
                </a:solidFill>
                <a:latin typeface="Segoe UI"/>
              </a:defRPr>
            </a:pPr>
            <a:r>
              <a:t>Observability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56286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Structured logging, Micrometer metrics, distributed tracing (OpenTelemetry)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1242</Words>
  <Application>Microsoft Office PowerPoint</Application>
  <PresentationFormat>Widescreen</PresentationFormat>
  <Paragraphs>157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Himanshu D</cp:lastModifiedBy>
  <cp:revision>2</cp:revision>
  <dcterms:created xsi:type="dcterms:W3CDTF">2013-01-27T09:14:16Z</dcterms:created>
  <dcterms:modified xsi:type="dcterms:W3CDTF">2026-02-06T04:19:49Z</dcterms:modified>
  <cp:category/>
</cp:coreProperties>
</file>