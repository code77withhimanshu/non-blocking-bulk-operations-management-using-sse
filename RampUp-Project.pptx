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1" r:id="rId2"/>
  </p:sldMasterIdLst>
  <p:notesMasterIdLst>
    <p:notesMasterId r:id="rId18"/>
  </p:notesMasterIdLst>
  <p:handoutMasterIdLst>
    <p:handoutMasterId r:id="rId19"/>
  </p:handoutMasterIdLst>
  <p:sldIdLst>
    <p:sldId id="256" r:id="rId3"/>
    <p:sldId id="295" r:id="rId4"/>
    <p:sldId id="286" r:id="rId5"/>
    <p:sldId id="296" r:id="rId6"/>
    <p:sldId id="297" r:id="rId7"/>
    <p:sldId id="301" r:id="rId8"/>
    <p:sldId id="302" r:id="rId9"/>
    <p:sldId id="298" r:id="rId10"/>
    <p:sldId id="307" r:id="rId11"/>
    <p:sldId id="299" r:id="rId12"/>
    <p:sldId id="309" r:id="rId13"/>
    <p:sldId id="305" r:id="rId14"/>
    <p:sldId id="306" r:id="rId15"/>
    <p:sldId id="308" r:id="rId16"/>
    <p:sldId id="30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CEE5ACB-7F46-4098-B5C9-50E3F17C3B27}">
          <p14:sldIdLst>
            <p14:sldId id="256"/>
            <p14:sldId id="295"/>
            <p14:sldId id="286"/>
            <p14:sldId id="296"/>
            <p14:sldId id="297"/>
            <p14:sldId id="301"/>
            <p14:sldId id="302"/>
            <p14:sldId id="298"/>
            <p14:sldId id="307"/>
            <p14:sldId id="299"/>
            <p14:sldId id="309"/>
            <p14:sldId id="305"/>
            <p14:sldId id="306"/>
            <p14:sldId id="308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A0A"/>
    <a:srgbClr val="FF9900"/>
    <a:srgbClr val="3399FF"/>
    <a:srgbClr val="D4E30B"/>
    <a:srgbClr val="6BB026"/>
    <a:srgbClr val="66CCFF"/>
    <a:srgbClr val="0570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 autoAdjust="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outlineViewPr>
    <p:cViewPr>
      <p:scale>
        <a:sx n="33" d="100"/>
        <a:sy n="33" d="100"/>
      </p:scale>
      <p:origin x="0" y="-4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75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579908-FD76-4402-8B3F-A3A77B738D47}" type="doc">
      <dgm:prSet loTypeId="urn:microsoft.com/office/officeart/2005/8/layout/hierarchy1" loCatId="hierarchy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82E2F8DD-7DB0-49B3-B39F-BD8326A577CC}">
      <dgm:prSet/>
      <dgm:spPr/>
      <dgm:t>
        <a:bodyPr/>
        <a:lstStyle/>
        <a:p>
          <a:r>
            <a:rPr lang="en-IN" b="1"/>
            <a:t>GWT - </a:t>
          </a:r>
          <a:r>
            <a:rPr lang="en-US"/>
            <a:t>Google Web Toolkit or GWT Web Toolkit is an open-source set of tools that allows web developers to create and maintain JavaScript front-end applications in Java. GWT framework contains certain set of UI components and libraries using which the developer can write frontend web application in Java.</a:t>
          </a:r>
        </a:p>
      </dgm:t>
    </dgm:pt>
    <dgm:pt modelId="{278C3EA8-AC1E-43F9-B4F1-FC18BD462D09}" type="parTrans" cxnId="{76CF6E23-176E-4EDB-818C-76DA524843F3}">
      <dgm:prSet/>
      <dgm:spPr/>
      <dgm:t>
        <a:bodyPr/>
        <a:lstStyle/>
        <a:p>
          <a:endParaRPr lang="en-US"/>
        </a:p>
      </dgm:t>
    </dgm:pt>
    <dgm:pt modelId="{04DAC856-1FEA-4C30-AEDC-71360E76DC02}" type="sibTrans" cxnId="{76CF6E23-176E-4EDB-818C-76DA524843F3}">
      <dgm:prSet/>
      <dgm:spPr/>
      <dgm:t>
        <a:bodyPr/>
        <a:lstStyle/>
        <a:p>
          <a:endParaRPr lang="en-US"/>
        </a:p>
      </dgm:t>
    </dgm:pt>
    <dgm:pt modelId="{CDD3EED6-2BBE-4FD8-841E-67C31E03B25B}">
      <dgm:prSet/>
      <dgm:spPr/>
      <dgm:t>
        <a:bodyPr/>
        <a:lstStyle/>
        <a:p>
          <a:r>
            <a:rPr lang="en-IN" b="1"/>
            <a:t>GWTBootstrap3 (library) – </a:t>
          </a:r>
          <a:r>
            <a:rPr lang="en-IN"/>
            <a:t>This contains GWT components which have been overridden to apply Twitter Bootstrap v3 design.</a:t>
          </a:r>
          <a:endParaRPr lang="en-US"/>
        </a:p>
      </dgm:t>
    </dgm:pt>
    <dgm:pt modelId="{C50AEAC7-72BE-437D-8915-D53A0F422980}" type="parTrans" cxnId="{96A7C7C2-3566-4618-9D2F-CF787B592DA5}">
      <dgm:prSet/>
      <dgm:spPr/>
      <dgm:t>
        <a:bodyPr/>
        <a:lstStyle/>
        <a:p>
          <a:endParaRPr lang="en-US"/>
        </a:p>
      </dgm:t>
    </dgm:pt>
    <dgm:pt modelId="{73099DE4-B1CB-45BD-8E22-944AB8EF34C8}" type="sibTrans" cxnId="{96A7C7C2-3566-4618-9D2F-CF787B592DA5}">
      <dgm:prSet/>
      <dgm:spPr/>
      <dgm:t>
        <a:bodyPr/>
        <a:lstStyle/>
        <a:p>
          <a:endParaRPr lang="en-US"/>
        </a:p>
      </dgm:t>
    </dgm:pt>
    <dgm:pt modelId="{3B2F53C1-72A8-48DA-899D-EDFD08982238}">
      <dgm:prSet/>
      <dgm:spPr/>
      <dgm:t>
        <a:bodyPr/>
        <a:lstStyle/>
        <a:p>
          <a:r>
            <a:rPr lang="en-IN" b="1"/>
            <a:t>RestyGWT(Library) – </a:t>
          </a:r>
          <a:r>
            <a:rPr lang="en-IN"/>
            <a:t>A good REST client for GWT.</a:t>
          </a:r>
          <a:endParaRPr lang="en-US"/>
        </a:p>
      </dgm:t>
    </dgm:pt>
    <dgm:pt modelId="{3A07DD82-E203-46F6-B484-755603C36595}" type="parTrans" cxnId="{4DB00738-1601-4E52-8C85-0294B891ADD8}">
      <dgm:prSet/>
      <dgm:spPr/>
      <dgm:t>
        <a:bodyPr/>
        <a:lstStyle/>
        <a:p>
          <a:endParaRPr lang="en-US"/>
        </a:p>
      </dgm:t>
    </dgm:pt>
    <dgm:pt modelId="{0074AF1E-7A27-4D18-B081-3FF3B2165A37}" type="sibTrans" cxnId="{4DB00738-1601-4E52-8C85-0294B891ADD8}">
      <dgm:prSet/>
      <dgm:spPr/>
      <dgm:t>
        <a:bodyPr/>
        <a:lstStyle/>
        <a:p>
          <a:endParaRPr lang="en-US"/>
        </a:p>
      </dgm:t>
    </dgm:pt>
    <dgm:pt modelId="{11F672E4-C5E3-4BDA-981D-EF677442FD9E}" type="pres">
      <dgm:prSet presAssocID="{F3579908-FD76-4402-8B3F-A3A77B738D4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0271B69-59ED-4AC3-8A85-0FB9492B9F4B}" type="pres">
      <dgm:prSet presAssocID="{82E2F8DD-7DB0-49B3-B39F-BD8326A577CC}" presName="hierRoot1" presStyleCnt="0"/>
      <dgm:spPr/>
    </dgm:pt>
    <dgm:pt modelId="{012D9B11-5C01-408C-B13D-62C2260F0CCC}" type="pres">
      <dgm:prSet presAssocID="{82E2F8DD-7DB0-49B3-B39F-BD8326A577CC}" presName="composite" presStyleCnt="0"/>
      <dgm:spPr/>
    </dgm:pt>
    <dgm:pt modelId="{F279678B-23A2-43A2-89CC-310650EBC1A7}" type="pres">
      <dgm:prSet presAssocID="{82E2F8DD-7DB0-49B3-B39F-BD8326A577CC}" presName="background" presStyleLbl="node0" presStyleIdx="0" presStyleCnt="3"/>
      <dgm:spPr/>
    </dgm:pt>
    <dgm:pt modelId="{25764C78-3C0A-4E4A-A322-F5C6DC6087E3}" type="pres">
      <dgm:prSet presAssocID="{82E2F8DD-7DB0-49B3-B39F-BD8326A577CC}" presName="text" presStyleLbl="fgAcc0" presStyleIdx="0" presStyleCnt="3">
        <dgm:presLayoutVars>
          <dgm:chPref val="3"/>
        </dgm:presLayoutVars>
      </dgm:prSet>
      <dgm:spPr/>
    </dgm:pt>
    <dgm:pt modelId="{220C0BFD-5A56-4524-A2CE-68AE2B4DB487}" type="pres">
      <dgm:prSet presAssocID="{82E2F8DD-7DB0-49B3-B39F-BD8326A577CC}" presName="hierChild2" presStyleCnt="0"/>
      <dgm:spPr/>
    </dgm:pt>
    <dgm:pt modelId="{5A45B4D1-6FAD-41D4-A037-A9B51E64AFD7}" type="pres">
      <dgm:prSet presAssocID="{CDD3EED6-2BBE-4FD8-841E-67C31E03B25B}" presName="hierRoot1" presStyleCnt="0"/>
      <dgm:spPr/>
    </dgm:pt>
    <dgm:pt modelId="{9243C3D2-7C7C-41F5-8EC8-1C322966B1C3}" type="pres">
      <dgm:prSet presAssocID="{CDD3EED6-2BBE-4FD8-841E-67C31E03B25B}" presName="composite" presStyleCnt="0"/>
      <dgm:spPr/>
    </dgm:pt>
    <dgm:pt modelId="{ADBF3D0E-8AF3-4FE6-B89D-30CCBC42332E}" type="pres">
      <dgm:prSet presAssocID="{CDD3EED6-2BBE-4FD8-841E-67C31E03B25B}" presName="background" presStyleLbl="node0" presStyleIdx="1" presStyleCnt="3"/>
      <dgm:spPr/>
    </dgm:pt>
    <dgm:pt modelId="{3A2C868A-E850-4A57-8CEF-F1E5CACD18A2}" type="pres">
      <dgm:prSet presAssocID="{CDD3EED6-2BBE-4FD8-841E-67C31E03B25B}" presName="text" presStyleLbl="fgAcc0" presStyleIdx="1" presStyleCnt="3">
        <dgm:presLayoutVars>
          <dgm:chPref val="3"/>
        </dgm:presLayoutVars>
      </dgm:prSet>
      <dgm:spPr/>
    </dgm:pt>
    <dgm:pt modelId="{7F7FCBE9-1958-460C-A575-AB2ED1C0B5C9}" type="pres">
      <dgm:prSet presAssocID="{CDD3EED6-2BBE-4FD8-841E-67C31E03B25B}" presName="hierChild2" presStyleCnt="0"/>
      <dgm:spPr/>
    </dgm:pt>
    <dgm:pt modelId="{3CAF3DFF-2EE1-4B98-B4A7-2E8C64C265C8}" type="pres">
      <dgm:prSet presAssocID="{3B2F53C1-72A8-48DA-899D-EDFD08982238}" presName="hierRoot1" presStyleCnt="0"/>
      <dgm:spPr/>
    </dgm:pt>
    <dgm:pt modelId="{75CC0299-8530-45F0-8311-C28919E7681E}" type="pres">
      <dgm:prSet presAssocID="{3B2F53C1-72A8-48DA-899D-EDFD08982238}" presName="composite" presStyleCnt="0"/>
      <dgm:spPr/>
    </dgm:pt>
    <dgm:pt modelId="{2E4BEE9F-6A1E-4C30-8971-B0F89FD25456}" type="pres">
      <dgm:prSet presAssocID="{3B2F53C1-72A8-48DA-899D-EDFD08982238}" presName="background" presStyleLbl="node0" presStyleIdx="2" presStyleCnt="3"/>
      <dgm:spPr/>
    </dgm:pt>
    <dgm:pt modelId="{7B10CDB6-AD78-4599-AE0E-6DCF6E9FA55A}" type="pres">
      <dgm:prSet presAssocID="{3B2F53C1-72A8-48DA-899D-EDFD08982238}" presName="text" presStyleLbl="fgAcc0" presStyleIdx="2" presStyleCnt="3">
        <dgm:presLayoutVars>
          <dgm:chPref val="3"/>
        </dgm:presLayoutVars>
      </dgm:prSet>
      <dgm:spPr/>
    </dgm:pt>
    <dgm:pt modelId="{9EF4E250-BB64-456D-B5C3-C130CFC04398}" type="pres">
      <dgm:prSet presAssocID="{3B2F53C1-72A8-48DA-899D-EDFD08982238}" presName="hierChild2" presStyleCnt="0"/>
      <dgm:spPr/>
    </dgm:pt>
  </dgm:ptLst>
  <dgm:cxnLst>
    <dgm:cxn modelId="{7D9E3104-5FC0-4475-A32B-15400547AE5D}" type="presOf" srcId="{F3579908-FD76-4402-8B3F-A3A77B738D47}" destId="{11F672E4-C5E3-4BDA-981D-EF677442FD9E}" srcOrd="0" destOrd="0" presId="urn:microsoft.com/office/officeart/2005/8/layout/hierarchy1"/>
    <dgm:cxn modelId="{76CF6E23-176E-4EDB-818C-76DA524843F3}" srcId="{F3579908-FD76-4402-8B3F-A3A77B738D47}" destId="{82E2F8DD-7DB0-49B3-B39F-BD8326A577CC}" srcOrd="0" destOrd="0" parTransId="{278C3EA8-AC1E-43F9-B4F1-FC18BD462D09}" sibTransId="{04DAC856-1FEA-4C30-AEDC-71360E76DC02}"/>
    <dgm:cxn modelId="{4DB00738-1601-4E52-8C85-0294B891ADD8}" srcId="{F3579908-FD76-4402-8B3F-A3A77B738D47}" destId="{3B2F53C1-72A8-48DA-899D-EDFD08982238}" srcOrd="2" destOrd="0" parTransId="{3A07DD82-E203-46F6-B484-755603C36595}" sibTransId="{0074AF1E-7A27-4D18-B081-3FF3B2165A37}"/>
    <dgm:cxn modelId="{7C735338-E3EB-4588-9EF7-8CF4ABF9AA80}" type="presOf" srcId="{82E2F8DD-7DB0-49B3-B39F-BD8326A577CC}" destId="{25764C78-3C0A-4E4A-A322-F5C6DC6087E3}" srcOrd="0" destOrd="0" presId="urn:microsoft.com/office/officeart/2005/8/layout/hierarchy1"/>
    <dgm:cxn modelId="{44A2A350-1E5C-4C93-B27D-4587E8DAB8A7}" type="presOf" srcId="{CDD3EED6-2BBE-4FD8-841E-67C31E03B25B}" destId="{3A2C868A-E850-4A57-8CEF-F1E5CACD18A2}" srcOrd="0" destOrd="0" presId="urn:microsoft.com/office/officeart/2005/8/layout/hierarchy1"/>
    <dgm:cxn modelId="{96A7C7C2-3566-4618-9D2F-CF787B592DA5}" srcId="{F3579908-FD76-4402-8B3F-A3A77B738D47}" destId="{CDD3EED6-2BBE-4FD8-841E-67C31E03B25B}" srcOrd="1" destOrd="0" parTransId="{C50AEAC7-72BE-437D-8915-D53A0F422980}" sibTransId="{73099DE4-B1CB-45BD-8E22-944AB8EF34C8}"/>
    <dgm:cxn modelId="{409491DB-DF3D-41A2-975A-F54B9DB1340A}" type="presOf" srcId="{3B2F53C1-72A8-48DA-899D-EDFD08982238}" destId="{7B10CDB6-AD78-4599-AE0E-6DCF6E9FA55A}" srcOrd="0" destOrd="0" presId="urn:microsoft.com/office/officeart/2005/8/layout/hierarchy1"/>
    <dgm:cxn modelId="{19BA2D40-BA75-40C6-B0AA-A8F419A2C6CB}" type="presParOf" srcId="{11F672E4-C5E3-4BDA-981D-EF677442FD9E}" destId="{10271B69-59ED-4AC3-8A85-0FB9492B9F4B}" srcOrd="0" destOrd="0" presId="urn:microsoft.com/office/officeart/2005/8/layout/hierarchy1"/>
    <dgm:cxn modelId="{8F49C8C7-C3F0-466C-8CAC-BFEA76739564}" type="presParOf" srcId="{10271B69-59ED-4AC3-8A85-0FB9492B9F4B}" destId="{012D9B11-5C01-408C-B13D-62C2260F0CCC}" srcOrd="0" destOrd="0" presId="urn:microsoft.com/office/officeart/2005/8/layout/hierarchy1"/>
    <dgm:cxn modelId="{D26C02B6-7558-43C5-A26B-8A9E294A8D24}" type="presParOf" srcId="{012D9B11-5C01-408C-B13D-62C2260F0CCC}" destId="{F279678B-23A2-43A2-89CC-310650EBC1A7}" srcOrd="0" destOrd="0" presId="urn:microsoft.com/office/officeart/2005/8/layout/hierarchy1"/>
    <dgm:cxn modelId="{002D0C90-FCED-45E2-B21F-73DE69F44128}" type="presParOf" srcId="{012D9B11-5C01-408C-B13D-62C2260F0CCC}" destId="{25764C78-3C0A-4E4A-A322-F5C6DC6087E3}" srcOrd="1" destOrd="0" presId="urn:microsoft.com/office/officeart/2005/8/layout/hierarchy1"/>
    <dgm:cxn modelId="{2EDB9A90-1B0A-4670-8DAD-0C067097475D}" type="presParOf" srcId="{10271B69-59ED-4AC3-8A85-0FB9492B9F4B}" destId="{220C0BFD-5A56-4524-A2CE-68AE2B4DB487}" srcOrd="1" destOrd="0" presId="urn:microsoft.com/office/officeart/2005/8/layout/hierarchy1"/>
    <dgm:cxn modelId="{B17F74DB-94F5-4F58-8483-D6003191C569}" type="presParOf" srcId="{11F672E4-C5E3-4BDA-981D-EF677442FD9E}" destId="{5A45B4D1-6FAD-41D4-A037-A9B51E64AFD7}" srcOrd="1" destOrd="0" presId="urn:microsoft.com/office/officeart/2005/8/layout/hierarchy1"/>
    <dgm:cxn modelId="{BD3C577D-6D10-488A-8113-B3CAFE7E8506}" type="presParOf" srcId="{5A45B4D1-6FAD-41D4-A037-A9B51E64AFD7}" destId="{9243C3D2-7C7C-41F5-8EC8-1C322966B1C3}" srcOrd="0" destOrd="0" presId="urn:microsoft.com/office/officeart/2005/8/layout/hierarchy1"/>
    <dgm:cxn modelId="{D99F3906-E17D-4D7C-8A4A-CF980068D0C5}" type="presParOf" srcId="{9243C3D2-7C7C-41F5-8EC8-1C322966B1C3}" destId="{ADBF3D0E-8AF3-4FE6-B89D-30CCBC42332E}" srcOrd="0" destOrd="0" presId="urn:microsoft.com/office/officeart/2005/8/layout/hierarchy1"/>
    <dgm:cxn modelId="{1C23E402-6DE5-4E0F-B8F7-624533878100}" type="presParOf" srcId="{9243C3D2-7C7C-41F5-8EC8-1C322966B1C3}" destId="{3A2C868A-E850-4A57-8CEF-F1E5CACD18A2}" srcOrd="1" destOrd="0" presId="urn:microsoft.com/office/officeart/2005/8/layout/hierarchy1"/>
    <dgm:cxn modelId="{0157AF6E-C9B7-4932-810A-57D917535EA9}" type="presParOf" srcId="{5A45B4D1-6FAD-41D4-A037-A9B51E64AFD7}" destId="{7F7FCBE9-1958-460C-A575-AB2ED1C0B5C9}" srcOrd="1" destOrd="0" presId="urn:microsoft.com/office/officeart/2005/8/layout/hierarchy1"/>
    <dgm:cxn modelId="{AAE796FD-810F-4EA3-B59B-90661A91C1A8}" type="presParOf" srcId="{11F672E4-C5E3-4BDA-981D-EF677442FD9E}" destId="{3CAF3DFF-2EE1-4B98-B4A7-2E8C64C265C8}" srcOrd="2" destOrd="0" presId="urn:microsoft.com/office/officeart/2005/8/layout/hierarchy1"/>
    <dgm:cxn modelId="{0138080E-949A-4158-AB3D-398B1F70E57D}" type="presParOf" srcId="{3CAF3DFF-2EE1-4B98-B4A7-2E8C64C265C8}" destId="{75CC0299-8530-45F0-8311-C28919E7681E}" srcOrd="0" destOrd="0" presId="urn:microsoft.com/office/officeart/2005/8/layout/hierarchy1"/>
    <dgm:cxn modelId="{F43D051B-C570-4368-A46C-4C646A74CA50}" type="presParOf" srcId="{75CC0299-8530-45F0-8311-C28919E7681E}" destId="{2E4BEE9F-6A1E-4C30-8971-B0F89FD25456}" srcOrd="0" destOrd="0" presId="urn:microsoft.com/office/officeart/2005/8/layout/hierarchy1"/>
    <dgm:cxn modelId="{B61A3022-B6E2-4AA9-AF9B-6B0A6F65390C}" type="presParOf" srcId="{75CC0299-8530-45F0-8311-C28919E7681E}" destId="{7B10CDB6-AD78-4599-AE0E-6DCF6E9FA55A}" srcOrd="1" destOrd="0" presId="urn:microsoft.com/office/officeart/2005/8/layout/hierarchy1"/>
    <dgm:cxn modelId="{D6C9FF29-A2C5-400F-93B3-8FABB1F01151}" type="presParOf" srcId="{3CAF3DFF-2EE1-4B98-B4A7-2E8C64C265C8}" destId="{9EF4E250-BB64-456D-B5C3-C130CFC0439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8DBB3E-A77D-4373-A5DF-E9CD694E03EF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F606E43-B591-4C94-9F7A-6772BF6587DF}">
      <dgm:prSet/>
      <dgm:spPr/>
      <dgm:t>
        <a:bodyPr/>
        <a:lstStyle/>
        <a:p>
          <a:r>
            <a:rPr lang="en-IN" b="1" dirty="0"/>
            <a:t>Spring Boot – </a:t>
          </a:r>
          <a:r>
            <a:rPr lang="en-IN" dirty="0"/>
            <a:t>Used to Created standalone REST API web application which serves the MOI DataGrid UI.</a:t>
          </a:r>
          <a:endParaRPr lang="en-US" dirty="0"/>
        </a:p>
      </dgm:t>
    </dgm:pt>
    <dgm:pt modelId="{9C12248C-5430-4DE4-B75A-24D619446E69}" type="parTrans" cxnId="{083CC3C7-38EC-490C-9FC4-6552B7B711D8}">
      <dgm:prSet/>
      <dgm:spPr/>
      <dgm:t>
        <a:bodyPr/>
        <a:lstStyle/>
        <a:p>
          <a:endParaRPr lang="en-US"/>
        </a:p>
      </dgm:t>
    </dgm:pt>
    <dgm:pt modelId="{EBD7B1DA-3112-434A-9769-5C0FD5861496}" type="sibTrans" cxnId="{083CC3C7-38EC-490C-9FC4-6552B7B711D8}">
      <dgm:prSet/>
      <dgm:spPr/>
      <dgm:t>
        <a:bodyPr/>
        <a:lstStyle/>
        <a:p>
          <a:endParaRPr lang="en-US"/>
        </a:p>
      </dgm:t>
    </dgm:pt>
    <dgm:pt modelId="{EB9B5862-94D5-443C-844A-FCC2A3FA1D40}">
      <dgm:prSet/>
      <dgm:spPr/>
      <dgm:t>
        <a:bodyPr/>
        <a:lstStyle/>
        <a:p>
          <a:r>
            <a:rPr lang="en-IN" b="1"/>
            <a:t>Spring Data Elasticsearch – </a:t>
          </a:r>
          <a:r>
            <a:rPr lang="en-US"/>
            <a:t>This project provides integration with the Elasticsearch search engine. Key functional areas of Spring Data Elasticsearch are a POJO centric model for interacting with a Elasticsearch Documents and easily writing a Repository style data access layer.</a:t>
          </a:r>
        </a:p>
      </dgm:t>
    </dgm:pt>
    <dgm:pt modelId="{1EDFEE58-2FCD-491A-B738-08083E518ABC}" type="parTrans" cxnId="{B2907D16-8B9A-46B4-9EA5-66AFF962BD2D}">
      <dgm:prSet/>
      <dgm:spPr/>
      <dgm:t>
        <a:bodyPr/>
        <a:lstStyle/>
        <a:p>
          <a:endParaRPr lang="en-US"/>
        </a:p>
      </dgm:t>
    </dgm:pt>
    <dgm:pt modelId="{98E4D4E9-405E-46A0-92C6-D1A5EDD54618}" type="sibTrans" cxnId="{B2907D16-8B9A-46B4-9EA5-66AFF962BD2D}">
      <dgm:prSet/>
      <dgm:spPr/>
      <dgm:t>
        <a:bodyPr/>
        <a:lstStyle/>
        <a:p>
          <a:endParaRPr lang="en-US"/>
        </a:p>
      </dgm:t>
    </dgm:pt>
    <dgm:pt modelId="{579A32E2-71B5-4BF5-858F-D717253CFC14}">
      <dgm:prSet/>
      <dgm:spPr/>
      <dgm:t>
        <a:bodyPr/>
        <a:lstStyle/>
        <a:p>
          <a:r>
            <a:rPr lang="en-IN" b="1"/>
            <a:t>Elasticsearch –  </a:t>
          </a:r>
          <a:r>
            <a:rPr lang="en-IN"/>
            <a:t>NoSQL persistent datastore to store MOI values at a particular time. Uses Apache Lucene based text search engine to execute performant queries to fetch data based on two timestamps (use-case for this project).</a:t>
          </a:r>
          <a:endParaRPr lang="en-US"/>
        </a:p>
      </dgm:t>
    </dgm:pt>
    <dgm:pt modelId="{C6CF5E82-D4C3-47CA-884B-CFE2570B89F1}" type="parTrans" cxnId="{F576DEAF-AAEA-49BD-9010-772AA54DD1DB}">
      <dgm:prSet/>
      <dgm:spPr/>
      <dgm:t>
        <a:bodyPr/>
        <a:lstStyle/>
        <a:p>
          <a:endParaRPr lang="en-US"/>
        </a:p>
      </dgm:t>
    </dgm:pt>
    <dgm:pt modelId="{25801A2D-EEBF-4FEA-A35A-C08E056B1F3B}" type="sibTrans" cxnId="{F576DEAF-AAEA-49BD-9010-772AA54DD1DB}">
      <dgm:prSet/>
      <dgm:spPr/>
      <dgm:t>
        <a:bodyPr/>
        <a:lstStyle/>
        <a:p>
          <a:endParaRPr lang="en-US"/>
        </a:p>
      </dgm:t>
    </dgm:pt>
    <dgm:pt modelId="{BEEE8907-340E-485A-A340-07268337B570}" type="pres">
      <dgm:prSet presAssocID="{CD8DBB3E-A77D-4373-A5DF-E9CD694E03E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4E668A5-02CC-4277-8F76-08C8E535A79E}" type="pres">
      <dgm:prSet presAssocID="{DF606E43-B591-4C94-9F7A-6772BF6587DF}" presName="hierRoot1" presStyleCnt="0"/>
      <dgm:spPr/>
    </dgm:pt>
    <dgm:pt modelId="{A4FA5BB4-2E2D-434B-BB82-1D66EEDA0A00}" type="pres">
      <dgm:prSet presAssocID="{DF606E43-B591-4C94-9F7A-6772BF6587DF}" presName="composite" presStyleCnt="0"/>
      <dgm:spPr/>
    </dgm:pt>
    <dgm:pt modelId="{AB71C56A-F268-4C7C-9B40-45FEAE2810E9}" type="pres">
      <dgm:prSet presAssocID="{DF606E43-B591-4C94-9F7A-6772BF6587DF}" presName="background" presStyleLbl="node0" presStyleIdx="0" presStyleCnt="3"/>
      <dgm:spPr/>
    </dgm:pt>
    <dgm:pt modelId="{E568F9C2-E604-4293-A9D0-5F882AFF3065}" type="pres">
      <dgm:prSet presAssocID="{DF606E43-B591-4C94-9F7A-6772BF6587DF}" presName="text" presStyleLbl="fgAcc0" presStyleIdx="0" presStyleCnt="3">
        <dgm:presLayoutVars>
          <dgm:chPref val="3"/>
        </dgm:presLayoutVars>
      </dgm:prSet>
      <dgm:spPr/>
    </dgm:pt>
    <dgm:pt modelId="{EF36C20D-710A-4771-A384-14E864032D7B}" type="pres">
      <dgm:prSet presAssocID="{DF606E43-B591-4C94-9F7A-6772BF6587DF}" presName="hierChild2" presStyleCnt="0"/>
      <dgm:spPr/>
    </dgm:pt>
    <dgm:pt modelId="{22EC32BC-DDA7-4C3F-BB9C-E1E5BB494D75}" type="pres">
      <dgm:prSet presAssocID="{EB9B5862-94D5-443C-844A-FCC2A3FA1D40}" presName="hierRoot1" presStyleCnt="0"/>
      <dgm:spPr/>
    </dgm:pt>
    <dgm:pt modelId="{3B30D679-76CC-451E-AC5C-F66F4CCC9E9E}" type="pres">
      <dgm:prSet presAssocID="{EB9B5862-94D5-443C-844A-FCC2A3FA1D40}" presName="composite" presStyleCnt="0"/>
      <dgm:spPr/>
    </dgm:pt>
    <dgm:pt modelId="{DFB1E92C-7807-47C6-A0C8-93EA016A2E34}" type="pres">
      <dgm:prSet presAssocID="{EB9B5862-94D5-443C-844A-FCC2A3FA1D40}" presName="background" presStyleLbl="node0" presStyleIdx="1" presStyleCnt="3"/>
      <dgm:spPr/>
    </dgm:pt>
    <dgm:pt modelId="{9C6DB263-AE23-455F-A534-36117F880D41}" type="pres">
      <dgm:prSet presAssocID="{EB9B5862-94D5-443C-844A-FCC2A3FA1D40}" presName="text" presStyleLbl="fgAcc0" presStyleIdx="1" presStyleCnt="3">
        <dgm:presLayoutVars>
          <dgm:chPref val="3"/>
        </dgm:presLayoutVars>
      </dgm:prSet>
      <dgm:spPr/>
    </dgm:pt>
    <dgm:pt modelId="{8190BEE1-3132-4A63-B9B6-237A5A87E98F}" type="pres">
      <dgm:prSet presAssocID="{EB9B5862-94D5-443C-844A-FCC2A3FA1D40}" presName="hierChild2" presStyleCnt="0"/>
      <dgm:spPr/>
    </dgm:pt>
    <dgm:pt modelId="{A009CD5E-DF99-4285-9A3B-D43F7B192A81}" type="pres">
      <dgm:prSet presAssocID="{579A32E2-71B5-4BF5-858F-D717253CFC14}" presName="hierRoot1" presStyleCnt="0"/>
      <dgm:spPr/>
    </dgm:pt>
    <dgm:pt modelId="{7E5B6C7F-BB31-4D85-A333-D022932EA7DF}" type="pres">
      <dgm:prSet presAssocID="{579A32E2-71B5-4BF5-858F-D717253CFC14}" presName="composite" presStyleCnt="0"/>
      <dgm:spPr/>
    </dgm:pt>
    <dgm:pt modelId="{341C559F-FF53-4A1E-8F25-908589BB1ECC}" type="pres">
      <dgm:prSet presAssocID="{579A32E2-71B5-4BF5-858F-D717253CFC14}" presName="background" presStyleLbl="node0" presStyleIdx="2" presStyleCnt="3"/>
      <dgm:spPr/>
    </dgm:pt>
    <dgm:pt modelId="{21C4D6D7-1783-4296-AA97-913E84FBC2C2}" type="pres">
      <dgm:prSet presAssocID="{579A32E2-71B5-4BF5-858F-D717253CFC14}" presName="text" presStyleLbl="fgAcc0" presStyleIdx="2" presStyleCnt="3">
        <dgm:presLayoutVars>
          <dgm:chPref val="3"/>
        </dgm:presLayoutVars>
      </dgm:prSet>
      <dgm:spPr/>
    </dgm:pt>
    <dgm:pt modelId="{A278C662-0785-46FA-8DD3-0CA3345471A4}" type="pres">
      <dgm:prSet presAssocID="{579A32E2-71B5-4BF5-858F-D717253CFC14}" presName="hierChild2" presStyleCnt="0"/>
      <dgm:spPr/>
    </dgm:pt>
  </dgm:ptLst>
  <dgm:cxnLst>
    <dgm:cxn modelId="{B2907D16-8B9A-46B4-9EA5-66AFF962BD2D}" srcId="{CD8DBB3E-A77D-4373-A5DF-E9CD694E03EF}" destId="{EB9B5862-94D5-443C-844A-FCC2A3FA1D40}" srcOrd="1" destOrd="0" parTransId="{1EDFEE58-2FCD-491A-B738-08083E518ABC}" sibTransId="{98E4D4E9-405E-46A0-92C6-D1A5EDD54618}"/>
    <dgm:cxn modelId="{BEE0298A-119C-469A-9AA8-3D1D37B0A0CE}" type="presOf" srcId="{EB9B5862-94D5-443C-844A-FCC2A3FA1D40}" destId="{9C6DB263-AE23-455F-A534-36117F880D41}" srcOrd="0" destOrd="0" presId="urn:microsoft.com/office/officeart/2005/8/layout/hierarchy1"/>
    <dgm:cxn modelId="{B5493198-F98D-4A02-9DE3-DFCE9C620448}" type="presOf" srcId="{CD8DBB3E-A77D-4373-A5DF-E9CD694E03EF}" destId="{BEEE8907-340E-485A-A340-07268337B570}" srcOrd="0" destOrd="0" presId="urn:microsoft.com/office/officeart/2005/8/layout/hierarchy1"/>
    <dgm:cxn modelId="{F576DEAF-AAEA-49BD-9010-772AA54DD1DB}" srcId="{CD8DBB3E-A77D-4373-A5DF-E9CD694E03EF}" destId="{579A32E2-71B5-4BF5-858F-D717253CFC14}" srcOrd="2" destOrd="0" parTransId="{C6CF5E82-D4C3-47CA-884B-CFE2570B89F1}" sibTransId="{25801A2D-EEBF-4FEA-A35A-C08E056B1F3B}"/>
    <dgm:cxn modelId="{083CC3C7-38EC-490C-9FC4-6552B7B711D8}" srcId="{CD8DBB3E-A77D-4373-A5DF-E9CD694E03EF}" destId="{DF606E43-B591-4C94-9F7A-6772BF6587DF}" srcOrd="0" destOrd="0" parTransId="{9C12248C-5430-4DE4-B75A-24D619446E69}" sibTransId="{EBD7B1DA-3112-434A-9769-5C0FD5861496}"/>
    <dgm:cxn modelId="{485A13CD-1BA7-4EF1-9BE5-2372F831B913}" type="presOf" srcId="{DF606E43-B591-4C94-9F7A-6772BF6587DF}" destId="{E568F9C2-E604-4293-A9D0-5F882AFF3065}" srcOrd="0" destOrd="0" presId="urn:microsoft.com/office/officeart/2005/8/layout/hierarchy1"/>
    <dgm:cxn modelId="{C74865DF-CDD6-4CBF-9919-BC6F67DC07D0}" type="presOf" srcId="{579A32E2-71B5-4BF5-858F-D717253CFC14}" destId="{21C4D6D7-1783-4296-AA97-913E84FBC2C2}" srcOrd="0" destOrd="0" presId="urn:microsoft.com/office/officeart/2005/8/layout/hierarchy1"/>
    <dgm:cxn modelId="{6BB91E91-3E52-42D4-9870-9AFC4E50130A}" type="presParOf" srcId="{BEEE8907-340E-485A-A340-07268337B570}" destId="{E4E668A5-02CC-4277-8F76-08C8E535A79E}" srcOrd="0" destOrd="0" presId="urn:microsoft.com/office/officeart/2005/8/layout/hierarchy1"/>
    <dgm:cxn modelId="{D618B5CC-2489-435F-9741-151AFD97F391}" type="presParOf" srcId="{E4E668A5-02CC-4277-8F76-08C8E535A79E}" destId="{A4FA5BB4-2E2D-434B-BB82-1D66EEDA0A00}" srcOrd="0" destOrd="0" presId="urn:microsoft.com/office/officeart/2005/8/layout/hierarchy1"/>
    <dgm:cxn modelId="{2C40BC84-C105-4AE9-BDDB-0C7249888A58}" type="presParOf" srcId="{A4FA5BB4-2E2D-434B-BB82-1D66EEDA0A00}" destId="{AB71C56A-F268-4C7C-9B40-45FEAE2810E9}" srcOrd="0" destOrd="0" presId="urn:microsoft.com/office/officeart/2005/8/layout/hierarchy1"/>
    <dgm:cxn modelId="{DA3893F6-5C23-4DDF-B718-D2E864BBFEBA}" type="presParOf" srcId="{A4FA5BB4-2E2D-434B-BB82-1D66EEDA0A00}" destId="{E568F9C2-E604-4293-A9D0-5F882AFF3065}" srcOrd="1" destOrd="0" presId="urn:microsoft.com/office/officeart/2005/8/layout/hierarchy1"/>
    <dgm:cxn modelId="{904A4A23-8573-402B-9652-179D07A5D83C}" type="presParOf" srcId="{E4E668A5-02CC-4277-8F76-08C8E535A79E}" destId="{EF36C20D-710A-4771-A384-14E864032D7B}" srcOrd="1" destOrd="0" presId="urn:microsoft.com/office/officeart/2005/8/layout/hierarchy1"/>
    <dgm:cxn modelId="{D44C7FC4-377D-4058-975E-C06386F32D8E}" type="presParOf" srcId="{BEEE8907-340E-485A-A340-07268337B570}" destId="{22EC32BC-DDA7-4C3F-BB9C-E1E5BB494D75}" srcOrd="1" destOrd="0" presId="urn:microsoft.com/office/officeart/2005/8/layout/hierarchy1"/>
    <dgm:cxn modelId="{545BB53A-C827-4FB2-8B66-CB7FF7110C28}" type="presParOf" srcId="{22EC32BC-DDA7-4C3F-BB9C-E1E5BB494D75}" destId="{3B30D679-76CC-451E-AC5C-F66F4CCC9E9E}" srcOrd="0" destOrd="0" presId="urn:microsoft.com/office/officeart/2005/8/layout/hierarchy1"/>
    <dgm:cxn modelId="{35A6EC21-84B6-47A5-BEC3-B5A7C6D74F4B}" type="presParOf" srcId="{3B30D679-76CC-451E-AC5C-F66F4CCC9E9E}" destId="{DFB1E92C-7807-47C6-A0C8-93EA016A2E34}" srcOrd="0" destOrd="0" presId="urn:microsoft.com/office/officeart/2005/8/layout/hierarchy1"/>
    <dgm:cxn modelId="{6B9A20A3-0A32-4005-990E-63B8084F99F2}" type="presParOf" srcId="{3B30D679-76CC-451E-AC5C-F66F4CCC9E9E}" destId="{9C6DB263-AE23-455F-A534-36117F880D41}" srcOrd="1" destOrd="0" presId="urn:microsoft.com/office/officeart/2005/8/layout/hierarchy1"/>
    <dgm:cxn modelId="{782DE44A-889C-4FEF-82D6-5629B338A412}" type="presParOf" srcId="{22EC32BC-DDA7-4C3F-BB9C-E1E5BB494D75}" destId="{8190BEE1-3132-4A63-B9B6-237A5A87E98F}" srcOrd="1" destOrd="0" presId="urn:microsoft.com/office/officeart/2005/8/layout/hierarchy1"/>
    <dgm:cxn modelId="{D86E48A7-3A1F-4A85-94C3-D44BDB000178}" type="presParOf" srcId="{BEEE8907-340E-485A-A340-07268337B570}" destId="{A009CD5E-DF99-4285-9A3B-D43F7B192A81}" srcOrd="2" destOrd="0" presId="urn:microsoft.com/office/officeart/2005/8/layout/hierarchy1"/>
    <dgm:cxn modelId="{3B21C2DA-FC91-4B85-B60B-2A74F081F5FE}" type="presParOf" srcId="{A009CD5E-DF99-4285-9A3B-D43F7B192A81}" destId="{7E5B6C7F-BB31-4D85-A333-D022932EA7DF}" srcOrd="0" destOrd="0" presId="urn:microsoft.com/office/officeart/2005/8/layout/hierarchy1"/>
    <dgm:cxn modelId="{C538F9CF-8DAF-4CE2-911C-6D4217AE15BA}" type="presParOf" srcId="{7E5B6C7F-BB31-4D85-A333-D022932EA7DF}" destId="{341C559F-FF53-4A1E-8F25-908589BB1ECC}" srcOrd="0" destOrd="0" presId="urn:microsoft.com/office/officeart/2005/8/layout/hierarchy1"/>
    <dgm:cxn modelId="{A2C5A64D-1F3C-480C-B569-5EC357E175E9}" type="presParOf" srcId="{7E5B6C7F-BB31-4D85-A333-D022932EA7DF}" destId="{21C4D6D7-1783-4296-AA97-913E84FBC2C2}" srcOrd="1" destOrd="0" presId="urn:microsoft.com/office/officeart/2005/8/layout/hierarchy1"/>
    <dgm:cxn modelId="{C040BA20-2FB0-4F8D-A335-E823DB1A069F}" type="presParOf" srcId="{A009CD5E-DF99-4285-9A3B-D43F7B192A81}" destId="{A278C662-0785-46FA-8DD3-0CA3345471A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79678B-23A2-43A2-89CC-310650EBC1A7}">
      <dsp:nvSpPr>
        <dsp:cNvPr id="0" name=""/>
        <dsp:cNvSpPr/>
      </dsp:nvSpPr>
      <dsp:spPr>
        <a:xfrm>
          <a:off x="0" y="1349998"/>
          <a:ext cx="3086099" cy="195967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5764C78-3C0A-4E4A-A322-F5C6DC6087E3}">
      <dsp:nvSpPr>
        <dsp:cNvPr id="0" name=""/>
        <dsp:cNvSpPr/>
      </dsp:nvSpPr>
      <dsp:spPr>
        <a:xfrm>
          <a:off x="342900" y="1675753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GWT - </a:t>
          </a:r>
          <a:r>
            <a:rPr lang="en-US" sz="1300" kern="1200"/>
            <a:t>Google Web Toolkit or GWT Web Toolkit is an open-source set of tools that allows web developers to create and maintain JavaScript front-end applications in Java. GWT framework contains certain set of UI components and libraries using which the developer can write frontend web application in Java.</a:t>
          </a:r>
        </a:p>
      </dsp:txBody>
      <dsp:txXfrm>
        <a:off x="400297" y="1733150"/>
        <a:ext cx="2971305" cy="1844879"/>
      </dsp:txXfrm>
    </dsp:sp>
    <dsp:sp modelId="{ADBF3D0E-8AF3-4FE6-B89D-30CCBC42332E}">
      <dsp:nvSpPr>
        <dsp:cNvPr id="0" name=""/>
        <dsp:cNvSpPr/>
      </dsp:nvSpPr>
      <dsp:spPr>
        <a:xfrm>
          <a:off x="3771900" y="1349998"/>
          <a:ext cx="3086099" cy="195967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A2C868A-E850-4A57-8CEF-F1E5CACD18A2}">
      <dsp:nvSpPr>
        <dsp:cNvPr id="0" name=""/>
        <dsp:cNvSpPr/>
      </dsp:nvSpPr>
      <dsp:spPr>
        <a:xfrm>
          <a:off x="4114800" y="1675753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GWTBootstrap3 (library) – </a:t>
          </a:r>
          <a:r>
            <a:rPr lang="en-IN" sz="1300" kern="1200"/>
            <a:t>This contains GWT components which have been overridden to apply Twitter Bootstrap v3 design.</a:t>
          </a:r>
          <a:endParaRPr lang="en-US" sz="1300" kern="1200"/>
        </a:p>
      </dsp:txBody>
      <dsp:txXfrm>
        <a:off x="4172197" y="1733150"/>
        <a:ext cx="2971305" cy="1844879"/>
      </dsp:txXfrm>
    </dsp:sp>
    <dsp:sp modelId="{2E4BEE9F-6A1E-4C30-8971-B0F89FD25456}">
      <dsp:nvSpPr>
        <dsp:cNvPr id="0" name=""/>
        <dsp:cNvSpPr/>
      </dsp:nvSpPr>
      <dsp:spPr>
        <a:xfrm>
          <a:off x="7543800" y="1349998"/>
          <a:ext cx="3086099" cy="195967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B10CDB6-AD78-4599-AE0E-6DCF6E9FA55A}">
      <dsp:nvSpPr>
        <dsp:cNvPr id="0" name=""/>
        <dsp:cNvSpPr/>
      </dsp:nvSpPr>
      <dsp:spPr>
        <a:xfrm>
          <a:off x="7886699" y="1675753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RestyGWT(Library) – </a:t>
          </a:r>
          <a:r>
            <a:rPr lang="en-IN" sz="1300" kern="1200"/>
            <a:t>A good REST client for GWT.</a:t>
          </a:r>
          <a:endParaRPr lang="en-US" sz="1300" kern="1200"/>
        </a:p>
      </dsp:txBody>
      <dsp:txXfrm>
        <a:off x="7944096" y="1733150"/>
        <a:ext cx="2971305" cy="18448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71C56A-F268-4C7C-9B40-45FEAE2810E9}">
      <dsp:nvSpPr>
        <dsp:cNvPr id="0" name=""/>
        <dsp:cNvSpPr/>
      </dsp:nvSpPr>
      <dsp:spPr>
        <a:xfrm>
          <a:off x="0" y="1277041"/>
          <a:ext cx="3086099" cy="1959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568F9C2-E604-4293-A9D0-5F882AFF3065}">
      <dsp:nvSpPr>
        <dsp:cNvPr id="0" name=""/>
        <dsp:cNvSpPr/>
      </dsp:nvSpPr>
      <dsp:spPr>
        <a:xfrm>
          <a:off x="342900" y="1602796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Spring Boot – </a:t>
          </a:r>
          <a:r>
            <a:rPr lang="en-IN" sz="1400" kern="1200" dirty="0"/>
            <a:t>Used to Created standalone REST API web application which serves the MOI DataGrid UI.</a:t>
          </a:r>
          <a:endParaRPr lang="en-US" sz="1400" kern="1200" dirty="0"/>
        </a:p>
      </dsp:txBody>
      <dsp:txXfrm>
        <a:off x="400297" y="1660193"/>
        <a:ext cx="2971305" cy="1844879"/>
      </dsp:txXfrm>
    </dsp:sp>
    <dsp:sp modelId="{DFB1E92C-7807-47C6-A0C8-93EA016A2E34}">
      <dsp:nvSpPr>
        <dsp:cNvPr id="0" name=""/>
        <dsp:cNvSpPr/>
      </dsp:nvSpPr>
      <dsp:spPr>
        <a:xfrm>
          <a:off x="3771900" y="1277041"/>
          <a:ext cx="3086099" cy="1959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C6DB263-AE23-455F-A534-36117F880D41}">
      <dsp:nvSpPr>
        <dsp:cNvPr id="0" name=""/>
        <dsp:cNvSpPr/>
      </dsp:nvSpPr>
      <dsp:spPr>
        <a:xfrm>
          <a:off x="4114800" y="1602796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Spring Data Elasticsearch – </a:t>
          </a:r>
          <a:r>
            <a:rPr lang="en-US" sz="1400" kern="1200"/>
            <a:t>This project provides integration with the Elasticsearch search engine. Key functional areas of Spring Data Elasticsearch are a POJO centric model for interacting with a Elasticsearch Documents and easily writing a Repository style data access layer.</a:t>
          </a:r>
        </a:p>
      </dsp:txBody>
      <dsp:txXfrm>
        <a:off x="4172197" y="1660193"/>
        <a:ext cx="2971305" cy="1844879"/>
      </dsp:txXfrm>
    </dsp:sp>
    <dsp:sp modelId="{341C559F-FF53-4A1E-8F25-908589BB1ECC}">
      <dsp:nvSpPr>
        <dsp:cNvPr id="0" name=""/>
        <dsp:cNvSpPr/>
      </dsp:nvSpPr>
      <dsp:spPr>
        <a:xfrm>
          <a:off x="7543800" y="1277041"/>
          <a:ext cx="3086099" cy="1959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1C4D6D7-1783-4296-AA97-913E84FBC2C2}">
      <dsp:nvSpPr>
        <dsp:cNvPr id="0" name=""/>
        <dsp:cNvSpPr/>
      </dsp:nvSpPr>
      <dsp:spPr>
        <a:xfrm>
          <a:off x="7886699" y="1602796"/>
          <a:ext cx="3086099" cy="19596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Elasticsearch –  </a:t>
          </a:r>
          <a:r>
            <a:rPr lang="en-IN" sz="1400" kern="1200"/>
            <a:t>NoSQL persistent datastore to store MOI values at a particular time. Uses Apache Lucene based text search engine to execute performant queries to fetch data based on two timestamps (use-case for this project).</a:t>
          </a:r>
          <a:endParaRPr lang="en-US" sz="1400" kern="1200"/>
        </a:p>
      </dsp:txBody>
      <dsp:txXfrm>
        <a:off x="7944096" y="1660193"/>
        <a:ext cx="2971305" cy="18448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4EA913-C22F-5441-974D-F71883800E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9ED93D-DF2B-9BED-8C47-CA92BA070C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54FA99-56CC-442E-856D-A063B6EAEAD9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9F013-5080-DF6D-612E-47C1D1CD77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92CF4-2F8B-B81E-1C15-C3986516259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BD3286-4C8B-4F3A-ADAB-01EDD26FE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37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A26BD-4989-4E65-91D0-923168A79B6D}" type="datetimeFigureOut">
              <a:rPr lang="en-GB" smtClean="0"/>
              <a:t>19/12/2022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A7C3F-1FF2-4540-9459-49B0BCFF12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161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_WIP/SUMMER/MYCOM%20OSi/POWERPOINT/images/mycom-osi%20graphic%20device.png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file://localhost/_WIP/SUMMER/MYCOM%20OSi/POWERPOINT/images/mycom-osi_logo_rgb.png" TargetMode="Externa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08105"/>
            <a:ext cx="3263717" cy="5415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299" y="3006384"/>
            <a:ext cx="3407701" cy="38516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1295400"/>
            <a:ext cx="9652000" cy="23368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ts val="5680"/>
              </a:lnSpc>
              <a:spcAft>
                <a:spcPts val="0"/>
              </a:spcAft>
              <a:defRPr sz="5067" baseline="0"/>
            </a:lvl1pPr>
          </a:lstStyle>
          <a:p>
            <a:r>
              <a:rPr lang="en-US" noProof="0"/>
              <a:t>MYCOM OSI </a:t>
            </a:r>
            <a:r>
              <a:rPr lang="en-US" noProof="0" err="1"/>
              <a:t>ppt</a:t>
            </a:r>
            <a:r>
              <a:rPr lang="en-US" noProof="0"/>
              <a:t>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" y="3691467"/>
            <a:ext cx="8128000" cy="9643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ts val="3413"/>
              </a:lnSpc>
              <a:buNone/>
              <a:defRPr sz="3067">
                <a:solidFill>
                  <a:schemeClr val="tx1"/>
                </a:solidFill>
                <a:latin typeface="+mn-lt"/>
                <a:cs typeface="Calibri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Subtitle style</a:t>
            </a:r>
            <a:br>
              <a:rPr lang="en-US" noProof="0"/>
            </a:br>
            <a:endParaRPr lang="en-US" noProof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851400"/>
            <a:ext cx="4876800" cy="533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2133" baseline="0">
                <a:solidFill>
                  <a:schemeClr val="tx1"/>
                </a:solidFill>
                <a:latin typeface="+mn-lt"/>
                <a:cs typeface="Calibri Light"/>
              </a:defRPr>
            </a:lvl1pPr>
          </a:lstStyle>
          <a:p>
            <a:pPr lvl="0"/>
            <a:r>
              <a:rPr lang="en-US" noProof="0"/>
              <a:t>Add date here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09600" y="5461000"/>
            <a:ext cx="10871200" cy="13969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sz="1333" noProof="0">
                <a:solidFill>
                  <a:srgbClr val="969696"/>
                </a:solidFill>
                <a:latin typeface="+mn-lt"/>
                <a:cs typeface="Calibri Light"/>
              </a:rPr>
              <a:t>CONFIDENTIAL INFORMATION, RESTRICTED TO MYCOM OSI</a:t>
            </a:r>
            <a:br>
              <a:rPr lang="en-US" sz="1333" noProof="0">
                <a:solidFill>
                  <a:srgbClr val="969696"/>
                </a:solidFill>
                <a:latin typeface="+mn-lt"/>
                <a:cs typeface="Calibri Light"/>
              </a:rPr>
            </a:br>
            <a:r>
              <a:rPr lang="en-US" sz="1333" noProof="0">
                <a:solidFill>
                  <a:srgbClr val="969696"/>
                </a:solidFill>
                <a:latin typeface="+mn-lt"/>
                <a:cs typeface="Calibri Light"/>
              </a:rPr>
              <a:t>©</a:t>
            </a:r>
            <a:r>
              <a:rPr lang="en-US" sz="1333" baseline="0" noProof="0">
                <a:solidFill>
                  <a:srgbClr val="969696"/>
                </a:solidFill>
                <a:latin typeface="+mn-lt"/>
                <a:cs typeface="Calibri Light"/>
              </a:rPr>
              <a:t> </a:t>
            </a:r>
            <a:r>
              <a:rPr lang="en-US" sz="1333" noProof="0">
                <a:solidFill>
                  <a:srgbClr val="969696"/>
                </a:solidFill>
                <a:latin typeface="+mn-lt"/>
                <a:cs typeface="Calibri Light"/>
              </a:rPr>
              <a:t>MYCOM OSI</a:t>
            </a:r>
          </a:p>
          <a:p>
            <a:pPr algn="just">
              <a:spcAft>
                <a:spcPts val="400"/>
              </a:spcAft>
            </a:pPr>
            <a:r>
              <a:rPr lang="en-US" sz="1333" noProof="0">
                <a:solidFill>
                  <a:srgbClr val="969696"/>
                </a:solidFill>
                <a:latin typeface="+mn-lt"/>
                <a:cs typeface="Calibri Light"/>
              </a:rPr>
              <a:t>This document contains forward-looking statements based on current expectations, forecasts and assumptions of the Company that involve risks and uncertainties. Forward-looking statements are subject to risks and uncertainties associated with the Company's business that could cause actual results to vary materially from those stated or implied by such forward-looking statements.</a:t>
            </a:r>
          </a:p>
        </p:txBody>
      </p:sp>
    </p:spTree>
    <p:extLst>
      <p:ext uri="{BB962C8B-B14F-4D97-AF65-F5344CB8AC3E}">
        <p14:creationId xmlns:p14="http://schemas.microsoft.com/office/powerpoint/2010/main" val="62966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Bullet poi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09600" y="6375400"/>
            <a:ext cx="109728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noProof="0">
                <a:latin typeface="+mn-lt"/>
                <a:cs typeface="Calibri (Body)"/>
              </a:rPr>
              <a:t>© MYCOM OSI Confidential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15" y="6425219"/>
            <a:ext cx="1678276" cy="2784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71596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92829"/>
            <a:ext cx="10972800" cy="4279371"/>
          </a:xfrm>
          <a:prstGeom prst="rect">
            <a:avLst/>
          </a:prstGeom>
        </p:spPr>
        <p:txBody>
          <a:bodyPr/>
          <a:lstStyle>
            <a:lvl1pPr marL="237061" indent="-237061">
              <a:spcBef>
                <a:spcPts val="0"/>
              </a:spcBef>
              <a:buClr>
                <a:srgbClr val="84BD00"/>
              </a:buClr>
              <a:defRPr sz="2267">
                <a:solidFill>
                  <a:srgbClr val="969696"/>
                </a:solidFill>
              </a:defRPr>
            </a:lvl1pPr>
            <a:lvl2pPr marL="632868" indent="-317492">
              <a:spcBef>
                <a:spcPts val="0"/>
              </a:spcBef>
              <a:buClr>
                <a:srgbClr val="84BD00"/>
              </a:buClr>
              <a:defRPr sz="2000">
                <a:latin typeface="+mn-lt"/>
              </a:defRPr>
            </a:lvl2pPr>
            <a:lvl3pPr marL="880511" indent="-247644">
              <a:spcBef>
                <a:spcPts val="0"/>
              </a:spcBef>
              <a:buClr>
                <a:srgbClr val="84BD00"/>
              </a:buClr>
              <a:defRPr sz="1600">
                <a:latin typeface="+mn-lt"/>
              </a:defRPr>
            </a:lvl3pPr>
            <a:lvl4pPr marL="1117572" indent="-237061">
              <a:spcBef>
                <a:spcPts val="0"/>
              </a:spcBef>
              <a:buClr>
                <a:srgbClr val="84BD00"/>
              </a:buClr>
              <a:defRPr sz="1600">
                <a:latin typeface="+mn-lt"/>
              </a:defRPr>
            </a:lvl4pPr>
            <a:lvl5pPr marL="1354633" indent="-237061">
              <a:spcBef>
                <a:spcPts val="0"/>
              </a:spcBef>
              <a:buClr>
                <a:srgbClr val="84BD00"/>
              </a:buClr>
              <a:defRPr sz="1333"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77334" y="1066801"/>
            <a:ext cx="10837333" cy="1588"/>
          </a:xfrm>
          <a:prstGeom prst="line">
            <a:avLst/>
          </a:prstGeom>
          <a:ln w="12700" cap="flat" cmpd="sng" algn="ctr">
            <a:solidFill>
              <a:srgbClr val="C8C8C8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09600" y="1295400"/>
            <a:ext cx="10972800" cy="5334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 marL="380990" indent="-380990">
              <a:buNone/>
              <a:defRPr baseline="0"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3888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 poi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71596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876800"/>
          </a:xfrm>
          <a:prstGeom prst="rect">
            <a:avLst/>
          </a:prstGeom>
        </p:spPr>
        <p:txBody>
          <a:bodyPr/>
          <a:lstStyle>
            <a:lvl1pPr marL="237061" indent="-237061">
              <a:spcBef>
                <a:spcPts val="0"/>
              </a:spcBef>
              <a:buClr>
                <a:srgbClr val="84BD00"/>
              </a:buClr>
              <a:defRPr>
                <a:solidFill>
                  <a:srgbClr val="969696"/>
                </a:solidFill>
              </a:defRPr>
            </a:lvl1pPr>
            <a:lvl2pPr marL="632868" indent="-317492">
              <a:spcBef>
                <a:spcPts val="0"/>
              </a:spcBef>
              <a:buClr>
                <a:srgbClr val="84BD00"/>
              </a:buClr>
              <a:defRPr sz="2267">
                <a:latin typeface="+mn-lt"/>
              </a:defRPr>
            </a:lvl2pPr>
            <a:lvl3pPr marL="880511" indent="-247644">
              <a:spcBef>
                <a:spcPts val="0"/>
              </a:spcBef>
              <a:buClr>
                <a:srgbClr val="84BD00"/>
              </a:buClr>
              <a:defRPr sz="2000">
                <a:latin typeface="+mn-lt"/>
              </a:defRPr>
            </a:lvl3pPr>
            <a:lvl4pPr marL="1117572" indent="-237061">
              <a:spcBef>
                <a:spcPts val="0"/>
              </a:spcBef>
              <a:buClr>
                <a:srgbClr val="84BD00"/>
              </a:buClr>
              <a:defRPr sz="1600">
                <a:latin typeface="+mn-lt"/>
              </a:defRPr>
            </a:lvl4pPr>
            <a:lvl5pPr marL="1354633" indent="-237061">
              <a:spcBef>
                <a:spcPts val="0"/>
              </a:spcBef>
              <a:buClr>
                <a:srgbClr val="84BD00"/>
              </a:buClr>
              <a:defRPr sz="1600"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77334" y="1066801"/>
            <a:ext cx="10837333" cy="1588"/>
          </a:xfrm>
          <a:prstGeom prst="line">
            <a:avLst/>
          </a:prstGeom>
          <a:ln w="12700" cap="flat" cmpd="sng" algn="ctr">
            <a:solidFill>
              <a:srgbClr val="C8C8C8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 userDrawn="1"/>
        </p:nvSpPr>
        <p:spPr>
          <a:xfrm>
            <a:off x="609600" y="6375400"/>
            <a:ext cx="109728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noProof="0">
                <a:latin typeface="+mn-lt"/>
                <a:cs typeface="Calibri (Body)"/>
              </a:rPr>
              <a:t>© MYCOM OSI Confidential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15" y="6425219"/>
            <a:ext cx="1678276" cy="27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054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299" y="3006384"/>
            <a:ext cx="3407701" cy="385161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151" y="-3"/>
            <a:ext cx="2048584" cy="2315449"/>
          </a:xfrm>
          <a:prstGeom prst="rect">
            <a:avLst/>
          </a:prstGeom>
        </p:spPr>
      </p:pic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2053733" y="2735560"/>
            <a:ext cx="7983851" cy="1941579"/>
          </a:xfrm>
          <a:prstGeom prst="rect">
            <a:avLst/>
          </a:prstGeom>
        </p:spPr>
        <p:txBody>
          <a:bodyPr/>
          <a:lstStyle>
            <a:lvl1pPr marL="237061" indent="-237061">
              <a:spcBef>
                <a:spcPts val="0"/>
              </a:spcBef>
              <a:buClr>
                <a:srgbClr val="84BD00"/>
              </a:buClr>
              <a:defRPr>
                <a:solidFill>
                  <a:srgbClr val="969696"/>
                </a:solidFill>
              </a:defRPr>
            </a:lvl1pPr>
            <a:lvl2pPr marL="632868" indent="-317492">
              <a:spcBef>
                <a:spcPts val="0"/>
              </a:spcBef>
              <a:buClr>
                <a:srgbClr val="84BD00"/>
              </a:buClr>
              <a:defRPr sz="2267">
                <a:latin typeface="+mn-lt"/>
              </a:defRPr>
            </a:lvl2pPr>
            <a:lvl3pPr marL="880511" indent="-247644">
              <a:spcBef>
                <a:spcPts val="0"/>
              </a:spcBef>
              <a:buClr>
                <a:srgbClr val="84BD00"/>
              </a:buClr>
              <a:defRPr sz="2000">
                <a:latin typeface="+mn-lt"/>
              </a:defRPr>
            </a:lvl3pPr>
            <a:lvl4pPr marL="1117572" indent="-237061">
              <a:spcBef>
                <a:spcPts val="0"/>
              </a:spcBef>
              <a:buClr>
                <a:srgbClr val="84BD00"/>
              </a:buClr>
              <a:defRPr sz="1600">
                <a:latin typeface="+mn-lt"/>
              </a:defRPr>
            </a:lvl4pPr>
            <a:lvl5pPr marL="1354633" indent="-237061">
              <a:spcBef>
                <a:spcPts val="0"/>
              </a:spcBef>
              <a:buClr>
                <a:srgbClr val="84BD00"/>
              </a:buClr>
              <a:defRPr sz="1600"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609600" y="6375400"/>
            <a:ext cx="109728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noProof="0">
                <a:latin typeface="+mn-lt"/>
                <a:cs typeface="Calibri (Body)"/>
              </a:rPr>
              <a:t>© MYCOM OSI Confidential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15" y="6425219"/>
            <a:ext cx="1678276" cy="278476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053734" y="1316765"/>
            <a:ext cx="7983852" cy="1292027"/>
          </a:xfrm>
          <a:prstGeom prst="rect">
            <a:avLst/>
          </a:prstGeom>
        </p:spPr>
        <p:txBody>
          <a:bodyPr anchor="b" anchorCtr="0"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2125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 slide -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144" y="-12"/>
            <a:ext cx="4842717" cy="5473568"/>
          </a:xfrm>
          <a:prstGeom prst="rect">
            <a:avLst/>
          </a:prstGeom>
        </p:spPr>
      </p:pic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6096000" y="3503645"/>
            <a:ext cx="5486397" cy="2133600"/>
          </a:xfrm>
          <a:prstGeom prst="rect">
            <a:avLst/>
          </a:prstGeom>
        </p:spPr>
        <p:txBody>
          <a:bodyPr/>
          <a:lstStyle>
            <a:lvl1pPr marL="237061" indent="-237061">
              <a:spcBef>
                <a:spcPts val="0"/>
              </a:spcBef>
              <a:buClr>
                <a:srgbClr val="84BD00"/>
              </a:buClr>
              <a:defRPr>
                <a:solidFill>
                  <a:srgbClr val="969696"/>
                </a:solidFill>
              </a:defRPr>
            </a:lvl1pPr>
            <a:lvl2pPr marL="632868" indent="-317492">
              <a:spcBef>
                <a:spcPts val="0"/>
              </a:spcBef>
              <a:buClr>
                <a:srgbClr val="84BD00"/>
              </a:buClr>
              <a:defRPr sz="2267">
                <a:latin typeface="+mn-lt"/>
              </a:defRPr>
            </a:lvl2pPr>
            <a:lvl3pPr marL="880511" indent="-247644">
              <a:spcBef>
                <a:spcPts val="0"/>
              </a:spcBef>
              <a:buClr>
                <a:srgbClr val="84BD00"/>
              </a:buClr>
              <a:defRPr sz="2000">
                <a:latin typeface="+mn-lt"/>
              </a:defRPr>
            </a:lvl3pPr>
            <a:lvl4pPr marL="1117572" indent="-237061">
              <a:spcBef>
                <a:spcPts val="0"/>
              </a:spcBef>
              <a:buClr>
                <a:srgbClr val="84BD00"/>
              </a:buClr>
              <a:defRPr sz="1600">
                <a:latin typeface="+mn-lt"/>
              </a:defRPr>
            </a:lvl4pPr>
            <a:lvl5pPr marL="1354633" indent="-237061">
              <a:spcBef>
                <a:spcPts val="0"/>
              </a:spcBef>
              <a:buClr>
                <a:srgbClr val="84BD00"/>
              </a:buClr>
              <a:defRPr sz="1600"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609600" y="6375400"/>
            <a:ext cx="109728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 noProof="0">
                <a:latin typeface="+mn-lt"/>
                <a:cs typeface="Calibri (Body)"/>
              </a:rPr>
              <a:t>© MYCOM OSI Confidential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15" y="6425219"/>
            <a:ext cx="1678276" cy="278476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6096001" y="1316765"/>
            <a:ext cx="5486399" cy="2084499"/>
          </a:xfrm>
          <a:prstGeom prst="rect">
            <a:avLst/>
          </a:prstGeom>
        </p:spPr>
        <p:txBody>
          <a:bodyPr anchor="b" anchorCtr="0"/>
          <a:lstStyle>
            <a:lvl1pPr>
              <a:defRPr/>
            </a:lvl1pPr>
          </a:lstStyle>
          <a:p>
            <a:r>
              <a:rPr lang="en-US" noProof="0"/>
              <a:t>Click to</a:t>
            </a:r>
            <a:br>
              <a:rPr lang="en-US" noProof="0"/>
            </a:br>
            <a:r>
              <a:rPr lang="en-US" noProof="0"/>
              <a:t>edit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7413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299" y="3006384"/>
            <a:ext cx="3407701" cy="38516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1295400"/>
            <a:ext cx="9652000" cy="23368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ts val="5680"/>
              </a:lnSpc>
              <a:spcAft>
                <a:spcPts val="0"/>
              </a:spcAft>
              <a:defRPr sz="5067" baseline="0"/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" y="3691467"/>
            <a:ext cx="8128000" cy="9643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ts val="3413"/>
              </a:lnSpc>
              <a:buNone/>
              <a:defRPr sz="3067">
                <a:solidFill>
                  <a:schemeClr val="tx1"/>
                </a:solidFill>
                <a:latin typeface="+mn-lt"/>
                <a:cs typeface="Calibri Light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Subtitle style</a:t>
            </a:r>
            <a:br>
              <a:rPr lang="en-US" noProof="0"/>
            </a:br>
            <a:endParaRPr lang="en-US" noProof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609600" y="5461000"/>
            <a:ext cx="10871200" cy="139699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sz="1333" noProof="0">
                <a:solidFill>
                  <a:srgbClr val="969696"/>
                </a:solidFill>
                <a:latin typeface="+mn-lt"/>
                <a:cs typeface="Calibri Light"/>
              </a:rPr>
              <a:t>CONFIDENTIAL INFORMATION, RESTRICTED TO MYCOM OSI</a:t>
            </a:r>
            <a:br>
              <a:rPr lang="en-US" sz="1333" noProof="0">
                <a:solidFill>
                  <a:srgbClr val="969696"/>
                </a:solidFill>
                <a:latin typeface="+mn-lt"/>
                <a:cs typeface="Calibri Light"/>
              </a:rPr>
            </a:br>
            <a:r>
              <a:rPr lang="en-US" sz="1333" noProof="0">
                <a:solidFill>
                  <a:srgbClr val="969696"/>
                </a:solidFill>
                <a:latin typeface="+mn-lt"/>
                <a:cs typeface="Calibri Light"/>
              </a:rPr>
              <a:t>©</a:t>
            </a:r>
            <a:r>
              <a:rPr lang="en-US" sz="1333" baseline="0" noProof="0">
                <a:solidFill>
                  <a:srgbClr val="969696"/>
                </a:solidFill>
                <a:latin typeface="+mn-lt"/>
                <a:cs typeface="Calibri Light"/>
              </a:rPr>
              <a:t> </a:t>
            </a:r>
            <a:r>
              <a:rPr lang="en-US" sz="1333" noProof="0">
                <a:solidFill>
                  <a:srgbClr val="969696"/>
                </a:solidFill>
                <a:latin typeface="+mn-lt"/>
                <a:cs typeface="Calibri Light"/>
              </a:rPr>
              <a:t>MYCOM OSI</a:t>
            </a:r>
          </a:p>
          <a:p>
            <a:pPr algn="just">
              <a:spcAft>
                <a:spcPts val="400"/>
              </a:spcAft>
            </a:pPr>
            <a:r>
              <a:rPr lang="en-US" sz="1333" noProof="0">
                <a:solidFill>
                  <a:srgbClr val="969696"/>
                </a:solidFill>
                <a:latin typeface="+mn-lt"/>
                <a:cs typeface="Calibri Light"/>
              </a:rPr>
              <a:t>This document contains forward-looking statements based on current expectations, forecasts and assumptions of the Company that involve risks and uncertainties. Forward-looking statements are subject to risks and uncertainties associated with the Company's business that could cause actual results to vary materially from those stated or implied by such forward-looking statements.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08105"/>
            <a:ext cx="3263717" cy="54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64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31FEC-36FF-4E56-A76C-85E9BD01FC28}" type="datetimeFigureOut">
              <a:rPr lang="en-GB" smtClean="0"/>
              <a:t>19/12/2022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6C584-7997-4B12-B5D1-E8FB69A50F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196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Box 4"/>
          <p:cNvSpPr txBox="1">
            <a:spLocks noGrp="1" noChangeArrowheads="1"/>
          </p:cNvSpPr>
          <p:nvPr>
            <p:ph type="sldNum" sz="quarter" idx="10"/>
          </p:nvPr>
        </p:nvSpPr>
        <p:spPr>
          <a:xfrm>
            <a:off x="11582400" y="6492877"/>
            <a:ext cx="183661" cy="114300"/>
          </a:xfrm>
          <a:prstGeom prst="rect">
            <a:avLst/>
          </a:prstGeom>
        </p:spPr>
        <p:txBody>
          <a:bodyPr lIns="143842" tIns="71926" rIns="143842" bIns="71926"/>
          <a:lstStyle>
            <a:lvl1pPr algn="l">
              <a:defRPr u="sng"/>
            </a:lvl1pPr>
          </a:lstStyle>
          <a:p>
            <a:fld id="{38A1EFE6-F832-4212-A457-B1C33D17F026}" type="slidenum">
              <a:rPr lang="en-US" altLang="en-US">
                <a:solidFill>
                  <a:srgbClr val="6D6E70">
                    <a:tint val="75000"/>
                  </a:srgbClr>
                </a:solidFill>
              </a:rPr>
              <a:pPr/>
              <a:t>‹#›</a:t>
            </a:fld>
            <a:endParaRPr lang="en-US" altLang="en-US">
              <a:solidFill>
                <a:srgbClr val="6D6E7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9515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xfrm>
            <a:off x="613918" y="532239"/>
            <a:ext cx="10707980" cy="59193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xfrm>
            <a:off x="1458101" y="1551203"/>
            <a:ext cx="10089120" cy="4979517"/>
          </a:xfrm>
          <a:prstGeom prst="rect">
            <a:avLst/>
          </a:prstGeom>
        </p:spPr>
        <p:txBody>
          <a:bodyPr/>
          <a:lstStyle>
            <a:lvl1pPr marL="580217" indent="-580217">
              <a:buFont typeface="Wingdings" charset="2"/>
              <a:buAutoNum type="arabicPlain"/>
              <a:defRPr/>
            </a:lvl1pPr>
            <a:lvl2pPr marL="760393" indent="-180177">
              <a:spcBef>
                <a:spcPts val="500"/>
              </a:spcBef>
              <a:defRPr/>
            </a:lvl2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xfrm>
            <a:off x="5851879" y="6546365"/>
            <a:ext cx="500944" cy="21063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0541864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parato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609600" y="6096000"/>
            <a:ext cx="10769600" cy="4572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677335" y="990603"/>
            <a:ext cx="10837333" cy="1588"/>
          </a:xfrm>
          <a:prstGeom prst="line">
            <a:avLst/>
          </a:prstGeom>
          <a:ln w="12700" cap="flat" cmpd="sng" algn="ctr">
            <a:solidFill>
              <a:srgbClr val="C8C8C8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715963"/>
          </a:xfrm>
          <a:prstGeom prst="rect">
            <a:avLst/>
          </a:prstGeom>
        </p:spPr>
        <p:txBody>
          <a:bodyPr anchor="ctr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Content Placeholder 11"/>
          <p:cNvSpPr>
            <a:spLocks noGrp="1"/>
          </p:cNvSpPr>
          <p:nvPr>
            <p:ph sz="quarter" idx="14"/>
          </p:nvPr>
        </p:nvSpPr>
        <p:spPr>
          <a:xfrm>
            <a:off x="609600" y="1219200"/>
            <a:ext cx="10972800" cy="1584960"/>
          </a:xfrm>
          <a:prstGeom prst="rect">
            <a:avLst/>
          </a:prstGeom>
        </p:spPr>
        <p:txBody>
          <a:bodyPr vert="horz"/>
          <a:lstStyle>
            <a:lvl1pPr marL="236527" indent="-236527">
              <a:spcBef>
                <a:spcPts val="0"/>
              </a:spcBef>
              <a:buClr>
                <a:srgbClr val="84BD00"/>
              </a:buClr>
              <a:defRPr>
                <a:solidFill>
                  <a:schemeClr val="tx1"/>
                </a:solidFill>
                <a:latin typeface="+mn-lt"/>
              </a:defRPr>
            </a:lvl1pPr>
            <a:lvl2pPr marL="541312" indent="-244463">
              <a:spcBef>
                <a:spcPts val="0"/>
              </a:spcBef>
              <a:buClr>
                <a:srgbClr val="84BD00"/>
              </a:buClr>
              <a:defRPr sz="2200">
                <a:latin typeface="+mn-lt"/>
              </a:defRPr>
            </a:lvl2pPr>
            <a:lvl3pPr marL="719103" indent="-177792">
              <a:spcBef>
                <a:spcPts val="0"/>
              </a:spcBef>
              <a:buClr>
                <a:srgbClr val="84BD00"/>
              </a:buClr>
              <a:defRPr sz="1800">
                <a:latin typeface="+mn-lt"/>
              </a:defRPr>
            </a:lvl3pPr>
            <a:lvl4pPr marL="957215" indent="-177792">
              <a:spcBef>
                <a:spcPts val="0"/>
              </a:spcBef>
              <a:buClr>
                <a:srgbClr val="84BD00"/>
              </a:buClr>
              <a:defRPr sz="1600">
                <a:latin typeface="+mn-lt"/>
              </a:defRPr>
            </a:lvl4pPr>
            <a:lvl5pPr marL="1135006" indent="-177792">
              <a:spcBef>
                <a:spcPts val="0"/>
              </a:spcBef>
              <a:buClr>
                <a:srgbClr val="84BD00"/>
              </a:buClr>
              <a:defRPr sz="16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5" name="mycom-osi graphic device.png" descr="/_WIP/SUMMER/MYCOM OSi/POWERPOINT/images/mycom-osi graphic device.png"/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0" y="2797412"/>
            <a:ext cx="12192000" cy="4053840"/>
          </a:xfrm>
          <a:prstGeom prst="rect">
            <a:avLst/>
          </a:prstGeom>
        </p:spPr>
      </p:pic>
      <p:pic>
        <p:nvPicPr>
          <p:cNvPr id="9" name="mycom-osi_logo_rgb.png" descr="/_WIP/SUMMER/MYCOM OSi/POWERPOINT/images/mycom-osi_logo_rgb.png">
            <a:extLst>
              <a:ext uri="{FF2B5EF4-FFF2-40B4-BE49-F238E27FC236}">
                <a16:creationId xmlns:a16="http://schemas.microsoft.com/office/drawing/2014/main" id="{89D09D6E-E83D-F344-A4EC-E6A1CECDF118}"/>
              </a:ext>
            </a:extLst>
          </p:cNvPr>
          <p:cNvPicPr>
            <a:picLocks noChangeAspect="1"/>
          </p:cNvPicPr>
          <p:nvPr userDrawn="1"/>
        </p:nvPicPr>
        <p:blipFill>
          <a:blip r:embed="rId4" r:link="rId5"/>
          <a:stretch>
            <a:fillRect/>
          </a:stretch>
        </p:blipFill>
        <p:spPr>
          <a:xfrm>
            <a:off x="778938" y="6427921"/>
            <a:ext cx="1679855" cy="2787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5B1204-2DA0-304F-8046-2779100DCB26}"/>
              </a:ext>
            </a:extLst>
          </p:cNvPr>
          <p:cNvSpPr txBox="1"/>
          <p:nvPr userDrawn="1"/>
        </p:nvSpPr>
        <p:spPr>
          <a:xfrm>
            <a:off x="911424" y="6360379"/>
            <a:ext cx="109728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33">
                <a:latin typeface="+mn-lt"/>
                <a:cs typeface="Calibri (Body)"/>
              </a:rPr>
              <a:t>© 2019 MYCOM OSI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36640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11582400" cy="5588000"/>
          </a:xfrm>
        </p:spPr>
        <p:txBody>
          <a:bodyPr>
            <a:normAutofit/>
          </a:bodyPr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203200" y="136356"/>
            <a:ext cx="10261600" cy="3128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22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fault Slid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685800"/>
            <a:ext cx="11582400" cy="406400"/>
          </a:xfrm>
        </p:spPr>
        <p:txBody>
          <a:bodyPr anchor="b">
            <a:noAutofit/>
          </a:bodyPr>
          <a:lstStyle>
            <a:lvl1pPr marL="0" indent="0">
              <a:buNone/>
              <a:defRPr sz="2133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092201"/>
            <a:ext cx="11582400" cy="5181601"/>
          </a:xfrm>
        </p:spPr>
        <p:txBody>
          <a:bodyPr>
            <a:normAutofit/>
          </a:bodyPr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016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655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 Co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6400" y="2514601"/>
            <a:ext cx="10363200" cy="1219199"/>
          </a:xfrm>
        </p:spPr>
        <p:txBody>
          <a:bodyPr anchor="t"/>
          <a:lstStyle>
            <a:lvl1pPr>
              <a:defRPr sz="5333">
                <a:solidFill>
                  <a:srgbClr val="1D2F3A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10566400" y="6371767"/>
            <a:ext cx="1524000" cy="4058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5562600"/>
            <a:ext cx="4775200" cy="304800"/>
          </a:xfrm>
        </p:spPr>
        <p:txBody>
          <a:bodyPr anchor="ctr">
            <a:noAutofit/>
          </a:bodyPr>
          <a:lstStyle>
            <a:lvl1pPr marL="0" indent="0">
              <a:buNone/>
              <a:defRPr sz="1867">
                <a:solidFill>
                  <a:schemeClr val="accent3"/>
                </a:solidFill>
                <a:latin typeface="+mn-lt"/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GB"/>
              <a:t>Job Title, Company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06400" y="5257800"/>
            <a:ext cx="4775200" cy="304800"/>
          </a:xfrm>
        </p:spPr>
        <p:txBody>
          <a:bodyPr anchor="ctr">
            <a:noAutofit/>
          </a:bodyPr>
          <a:lstStyle>
            <a:lvl1pPr marL="0" indent="0">
              <a:buNone/>
              <a:defRPr sz="1867">
                <a:solidFill>
                  <a:schemeClr val="tx1"/>
                </a:solidFill>
                <a:latin typeface="+mn-lt"/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2616200"/>
            <a:ext cx="203200" cy="812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04414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416800" y="5969000"/>
            <a:ext cx="4775200" cy="889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effectLst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0" y="787400"/>
            <a:ext cx="12192000" cy="538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effectLst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5562600"/>
            <a:ext cx="4775200" cy="304800"/>
          </a:xfrm>
        </p:spPr>
        <p:txBody>
          <a:bodyPr anchor="ctr">
            <a:noAutofit/>
          </a:bodyPr>
          <a:lstStyle>
            <a:lvl1pPr marL="0" indent="0">
              <a:buNone/>
              <a:defRPr sz="1867">
                <a:solidFill>
                  <a:schemeClr val="accent3"/>
                </a:solidFill>
                <a:latin typeface="+mn-lt"/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GB"/>
              <a:t>Job Title, Company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06400" y="5257800"/>
            <a:ext cx="4775200" cy="304800"/>
          </a:xfrm>
        </p:spPr>
        <p:txBody>
          <a:bodyPr anchor="ctr">
            <a:noAutofit/>
          </a:bodyPr>
          <a:lstStyle>
            <a:lvl1pPr marL="0" indent="0">
              <a:buNone/>
              <a:defRPr sz="1867">
                <a:solidFill>
                  <a:schemeClr val="tx1"/>
                </a:solidFill>
                <a:latin typeface="+mn-lt"/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7620000" y="0"/>
            <a:ext cx="4572000" cy="6858000"/>
          </a:xfrm>
        </p:spPr>
        <p:txBody>
          <a:bodyPr/>
          <a:lstStyle/>
          <a:p>
            <a:endParaRPr lang="en-US"/>
          </a:p>
        </p:txBody>
      </p:sp>
      <p:pic>
        <p:nvPicPr>
          <p:cNvPr id="12" name="Picture 11" descr="TMForum_Logo2018.RedGray-CMYK-NEW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76201"/>
            <a:ext cx="1422400" cy="431113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406400" y="2514601"/>
            <a:ext cx="6400800" cy="1219199"/>
          </a:xfrm>
        </p:spPr>
        <p:txBody>
          <a:bodyPr numCol="1" anchor="t"/>
          <a:lstStyle>
            <a:lvl1pPr>
              <a:defRPr sz="5333">
                <a:solidFill>
                  <a:srgbClr val="1D2F3A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Rectangle 16"/>
          <p:cNvSpPr/>
          <p:nvPr userDrawn="1"/>
        </p:nvSpPr>
        <p:spPr>
          <a:xfrm>
            <a:off x="0" y="2616200"/>
            <a:ext cx="203200" cy="812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96913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 -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2"/>
            <a:ext cx="12192000" cy="6857999"/>
          </a:xfrm>
          <a:prstGeom prst="rect">
            <a:avLst/>
          </a:prstGeom>
          <a:solidFill>
            <a:srgbClr val="293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5562600"/>
            <a:ext cx="4775200" cy="304800"/>
          </a:xfrm>
        </p:spPr>
        <p:txBody>
          <a:bodyPr anchor="ctr">
            <a:noAutofit/>
          </a:bodyPr>
          <a:lstStyle>
            <a:lvl1pPr marL="0" indent="0">
              <a:buNone/>
              <a:defRPr sz="1867">
                <a:solidFill>
                  <a:srgbClr val="FFFFFF"/>
                </a:solidFill>
                <a:latin typeface="+mn-lt"/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GB"/>
              <a:t>Job Title, Company</a:t>
            </a:r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06400" y="5257800"/>
            <a:ext cx="4775200" cy="304800"/>
          </a:xfrm>
        </p:spPr>
        <p:txBody>
          <a:bodyPr anchor="ctr">
            <a:noAutofit/>
          </a:bodyPr>
          <a:lstStyle>
            <a:lvl1pPr marL="0" indent="0">
              <a:buNone/>
              <a:defRPr sz="1867">
                <a:solidFill>
                  <a:srgbClr val="FFFFFF"/>
                </a:solidFill>
                <a:latin typeface="+mn-lt"/>
              </a:defRPr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0" y="2616200"/>
            <a:ext cx="203200" cy="812800"/>
          </a:xfrm>
          <a:prstGeom prst="rect">
            <a:avLst/>
          </a:prstGeom>
          <a:solidFill>
            <a:srgbClr val="E01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7" name="Title 1"/>
          <p:cNvSpPr>
            <a:spLocks noGrp="1"/>
          </p:cNvSpPr>
          <p:nvPr>
            <p:ph type="ctrTitle"/>
          </p:nvPr>
        </p:nvSpPr>
        <p:spPr>
          <a:xfrm>
            <a:off x="406400" y="2514601"/>
            <a:ext cx="10363200" cy="1219199"/>
          </a:xfrm>
        </p:spPr>
        <p:txBody>
          <a:bodyPr anchor="t"/>
          <a:lstStyle>
            <a:lvl1pPr>
              <a:defRPr sz="5333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1" y="76201"/>
            <a:ext cx="1422399" cy="43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9745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685800"/>
            <a:ext cx="5689600" cy="5588000"/>
          </a:xfrm>
        </p:spPr>
        <p:txBody>
          <a:bodyPr>
            <a:normAutofit/>
          </a:bodyPr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685800"/>
            <a:ext cx="5791200" cy="5588000"/>
          </a:xfrm>
        </p:spPr>
        <p:txBody>
          <a:bodyPr>
            <a:normAutofit/>
          </a:bodyPr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203200" y="136356"/>
            <a:ext cx="10261600" cy="3128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99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685800"/>
            <a:ext cx="5691717" cy="640560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97599"/>
            <a:ext cx="5691717" cy="4776201"/>
          </a:xfrm>
        </p:spPr>
        <p:txBody>
          <a:bodyPr>
            <a:normAutofit/>
          </a:bodyPr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1" y="685800"/>
            <a:ext cx="5795433" cy="640560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1" y="1497599"/>
            <a:ext cx="5795433" cy="4776201"/>
          </a:xfrm>
        </p:spPr>
        <p:txBody>
          <a:bodyPr>
            <a:normAutofit/>
          </a:bodyPr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5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05000"/>
            <a:ext cx="11582400" cy="1828800"/>
          </a:xfrm>
        </p:spPr>
        <p:txBody>
          <a:bodyPr>
            <a:normAutofit/>
          </a:bodyPr>
          <a:lstStyle>
            <a:lvl1pPr marL="0" indent="0">
              <a:buNone/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 hasCustomPrompt="1"/>
          </p:nvPr>
        </p:nvSpPr>
        <p:spPr>
          <a:xfrm>
            <a:off x="304800" y="4445000"/>
            <a:ext cx="2844800" cy="609600"/>
          </a:xfrm>
        </p:spPr>
        <p:txBody>
          <a:bodyPr>
            <a:noAutofit/>
          </a:bodyPr>
          <a:lstStyle>
            <a:lvl1pPr marL="0" indent="0">
              <a:buNone/>
              <a:defRPr sz="1467" i="1" baseline="0">
                <a:solidFill>
                  <a:srgbClr val="999999"/>
                </a:solidFill>
              </a:defRPr>
            </a:lvl1pPr>
          </a:lstStyle>
          <a:p>
            <a:pPr lvl="0"/>
            <a:r>
              <a:rPr lang="en-GB"/>
              <a:t>Job Title, Company</a:t>
            </a:r>
            <a:endParaRPr lang="en-US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1" hasCustomPrompt="1"/>
          </p:nvPr>
        </p:nvSpPr>
        <p:spPr>
          <a:xfrm>
            <a:off x="304800" y="3937000"/>
            <a:ext cx="2844800" cy="304800"/>
          </a:xfrm>
        </p:spPr>
        <p:txBody>
          <a:bodyPr>
            <a:noAutofit/>
          </a:bodyPr>
          <a:lstStyle>
            <a:lvl1pPr marL="0" indent="0">
              <a:buNone/>
              <a:defRPr sz="2133" i="1" baseline="0">
                <a:solidFill>
                  <a:srgbClr val="999999"/>
                </a:solidFill>
              </a:defRPr>
            </a:lvl1pPr>
          </a:lstStyle>
          <a:p>
            <a:pPr lvl="0"/>
            <a:r>
              <a:rPr lang="en-GB"/>
              <a:t>Name</a:t>
            </a:r>
            <a:endParaRPr lang="en-US"/>
          </a:p>
        </p:txBody>
      </p:sp>
      <p:sp>
        <p:nvSpPr>
          <p:cNvPr id="11" name="object 12"/>
          <p:cNvSpPr/>
          <p:nvPr userDrawn="1"/>
        </p:nvSpPr>
        <p:spPr>
          <a:xfrm>
            <a:off x="406400" y="4444999"/>
            <a:ext cx="711200" cy="60959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230" y="0"/>
                </a:lnTo>
              </a:path>
            </a:pathLst>
          </a:custGeom>
          <a:ln w="6350">
            <a:solidFill>
              <a:srgbClr val="E8222C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304800" y="787400"/>
            <a:ext cx="2844800" cy="609600"/>
          </a:xfrm>
        </p:spPr>
        <p:txBody>
          <a:bodyPr>
            <a:noAutofit/>
          </a:bodyPr>
          <a:lstStyle>
            <a:lvl1pPr marL="0" indent="0">
              <a:buNone/>
              <a:defRPr sz="12800" i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/>
              <a:t>“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80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Examp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04800" y="685800"/>
            <a:ext cx="5691717" cy="640560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97599"/>
            <a:ext cx="5691717" cy="4776201"/>
          </a:xfrm>
        </p:spPr>
        <p:txBody>
          <a:bodyPr>
            <a:normAutofit/>
          </a:bodyPr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587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Examp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04800" y="685800"/>
            <a:ext cx="5691717" cy="640560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97599"/>
            <a:ext cx="5691717" cy="4776201"/>
          </a:xfrm>
        </p:spPr>
        <p:txBody>
          <a:bodyPr>
            <a:normAutofit/>
          </a:bodyPr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467"/>
            </a:lvl4pPr>
            <a:lvl5pPr>
              <a:defRPr sz="14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684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8184575" y="1844676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4332000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9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1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Slide title, Ericsson Hilda Light 40pt, Ericsson Black, max 2-lines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9425" y="1844675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For heading, use Ericsson Hilda in bold. For copy and bullets, use Ericsson Hilda.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598505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7398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068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77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marL="0" indent="0" algn="l" defTabSz="609585" rtl="0" eaLnBrk="1" latinLnBrk="0" hangingPunct="1">
        <a:spcBef>
          <a:spcPct val="0"/>
        </a:spcBef>
        <a:buNone/>
        <a:defRPr sz="4267" kern="1200">
          <a:solidFill>
            <a:srgbClr val="58899D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2800" kern="1200">
          <a:solidFill>
            <a:srgbClr val="84BD00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2133" kern="1200">
          <a:solidFill>
            <a:schemeClr val="tx1"/>
          </a:solidFill>
          <a:latin typeface="Calibri Light"/>
          <a:ea typeface="+mn-ea"/>
          <a:cs typeface="Calibri Light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2133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133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133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3200" y="136356"/>
            <a:ext cx="10261600" cy="3128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685800"/>
            <a:ext cx="11582400" cy="568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7" name="object 3"/>
          <p:cNvSpPr txBox="1"/>
          <p:nvPr userDrawn="1"/>
        </p:nvSpPr>
        <p:spPr>
          <a:xfrm>
            <a:off x="9347201" y="6477000"/>
            <a:ext cx="2641599" cy="1813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82123" algn="r">
              <a:spcBef>
                <a:spcPts val="140"/>
              </a:spcBef>
            </a:pPr>
            <a:r>
              <a:rPr lang="is-IS" sz="1067">
                <a:solidFill>
                  <a:srgbClr val="999999"/>
                </a:solidFill>
              </a:rPr>
              <a:t>© 2018 TM Forum |</a:t>
            </a:r>
            <a:r>
              <a:rPr lang="is-IS" sz="1067" spc="107">
                <a:solidFill>
                  <a:srgbClr val="999999"/>
                </a:solidFill>
              </a:rPr>
              <a:t> </a:t>
            </a:r>
            <a:fld id="{FE1BC5A7-5ADC-7C46-99BB-5F157FBEB3E3}" type="slidenum">
              <a:rPr lang="is-IS" sz="1067" smtClean="0">
                <a:solidFill>
                  <a:srgbClr val="999999"/>
                </a:solidFill>
              </a:rPr>
              <a:pPr marL="82123" algn="r">
                <a:spcBef>
                  <a:spcPts val="140"/>
                </a:spcBef>
              </a:pPr>
              <a:t>‹#›</a:t>
            </a:fld>
            <a:endParaRPr lang="is-IS" sz="1067">
              <a:solidFill>
                <a:srgbClr val="999999"/>
              </a:solidFill>
            </a:endParaRPr>
          </a:p>
        </p:txBody>
      </p:sp>
      <p:pic>
        <p:nvPicPr>
          <p:cNvPr id="8" name="Picture 7" descr="TMForum_Logo2018.RedGray-CMYK-NEW.png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76201"/>
            <a:ext cx="1422400" cy="431113"/>
          </a:xfrm>
          <a:prstGeom prst="rect">
            <a:avLst/>
          </a:prstGeom>
        </p:spPr>
      </p:pic>
      <p:sp>
        <p:nvSpPr>
          <p:cNvPr id="4" name="MSIPCM770a4283b96e9e2f65006b9c" descr="{&quot;HashCode&quot;:2133105206,&quot;Placement&quot;:&quot;Footer&quot;,&quot;Top&quot;:389.104645,&quot;Left&quot;:300.843231,&quot;SlideWidth&quot;:720,&quot;SlideHeight&quot;:405}"/>
          <p:cNvSpPr txBox="1"/>
          <p:nvPr userDrawn="1"/>
        </p:nvSpPr>
        <p:spPr>
          <a:xfrm>
            <a:off x="5094279" y="6651636"/>
            <a:ext cx="2003444" cy="14356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933">
                <a:solidFill>
                  <a:srgbClr val="000000"/>
                </a:solidFill>
                <a:latin typeface="Arial" panose="020B0604020202020204" pitchFamily="34" charset="0"/>
              </a:rPr>
              <a:t>Sensitivity: Internal &amp; Restricted</a:t>
            </a:r>
          </a:p>
        </p:txBody>
      </p:sp>
    </p:spTree>
    <p:extLst>
      <p:ext uri="{BB962C8B-B14F-4D97-AF65-F5344CB8AC3E}">
        <p14:creationId xmlns:p14="http://schemas.microsoft.com/office/powerpoint/2010/main" val="2170491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</p:sldLayoutIdLst>
  <p:txStyles>
    <p:titleStyle>
      <a:lvl1pPr algn="l" defTabSz="609585" rtl="0" eaLnBrk="1" latinLnBrk="0" hangingPunct="1">
        <a:spcBef>
          <a:spcPct val="0"/>
        </a:spcBef>
        <a:buNone/>
        <a:defRPr sz="2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Clr>
          <a:schemeClr val="accent1"/>
        </a:buClr>
        <a:buFont typeface="Arial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Clr>
          <a:schemeClr val="accent1"/>
        </a:buClr>
        <a:buFont typeface="Arial"/>
        <a:buChar char="–"/>
        <a:defRPr sz="14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Clr>
          <a:schemeClr val="accent1"/>
        </a:buClr>
        <a:buFont typeface="Arial"/>
        <a:buChar char="»"/>
        <a:defRPr sz="14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wtmaterialdesign.github.io/gmd-core-demo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2F04BB-2246-47BC-B91B-7FDA89997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550185"/>
            <a:ext cx="11344275" cy="699420"/>
          </a:xfrm>
        </p:spPr>
        <p:txBody>
          <a:bodyPr/>
          <a:lstStyle/>
          <a:p>
            <a:pPr algn="ctr"/>
            <a:r>
              <a:rPr lang="en-GB" sz="4800" dirty="0"/>
              <a:t>MOI (Managed object Instance) DataGrid</a:t>
            </a:r>
            <a:br>
              <a:rPr lang="en-GB" sz="4500" dirty="0"/>
            </a:br>
            <a:r>
              <a:rPr lang="en-GB" sz="3200" dirty="0"/>
              <a:t>Project Presentation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0349EFE-D808-4A36-A8A5-AB87FA7386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307815"/>
            <a:ext cx="8128000" cy="42056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133" dirty="0"/>
              <a:t>Jayant Panwar</a:t>
            </a:r>
            <a:endParaRPr lang="en-US" sz="16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0C5410-E93E-4991-BA68-32E802248D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20/12/2022</a:t>
            </a:r>
          </a:p>
        </p:txBody>
      </p:sp>
    </p:spTree>
    <p:extLst>
      <p:ext uri="{BB962C8B-B14F-4D97-AF65-F5344CB8AC3E}">
        <p14:creationId xmlns:p14="http://schemas.microsoft.com/office/powerpoint/2010/main" val="3958505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314C5-F1F6-3E2F-F550-9029EF346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174" y="2735560"/>
            <a:ext cx="9163665" cy="330144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IN" sz="2400" dirty="0"/>
              <a:t>The aim is to replicate a UI component from </a:t>
            </a:r>
            <a:r>
              <a:rPr lang="en-IN" sz="2400" b="1" dirty="0" err="1"/>
              <a:t>PrOptima</a:t>
            </a:r>
            <a:r>
              <a:rPr lang="en-IN" sz="2400" dirty="0"/>
              <a:t> web where </a:t>
            </a:r>
            <a:r>
              <a:rPr lang="en-IN" sz="2400" b="1" dirty="0"/>
              <a:t>MOI</a:t>
            </a:r>
            <a:r>
              <a:rPr lang="en-IN" sz="2400" dirty="0"/>
              <a:t> values at a given time are displayed in a grid.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IN" sz="2400" dirty="0"/>
              <a:t>The dates are laid out on the horizontal header and the MOI’s are laid out on the Vertical headers.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IN" sz="2400" dirty="0"/>
              <a:t>The user can select the from date and to date from given Date boxes and on hitting submit can fetch the data from backend.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IN" sz="2400" dirty="0"/>
              <a:t>By default, the data displayed is from current date – 5 days till current date.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DFFED2-6ABE-D8A6-50B2-70ACC146D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734" y="1316765"/>
            <a:ext cx="7983852" cy="1292027"/>
          </a:xfrm>
        </p:spPr>
        <p:txBody>
          <a:bodyPr anchor="b">
            <a:normAutofit/>
          </a:bodyPr>
          <a:lstStyle/>
          <a:p>
            <a:r>
              <a:rPr lang="en-IN" dirty="0"/>
              <a:t>About The Project</a:t>
            </a:r>
          </a:p>
        </p:txBody>
      </p:sp>
    </p:spTree>
    <p:extLst>
      <p:ext uri="{BB962C8B-B14F-4D97-AF65-F5344CB8AC3E}">
        <p14:creationId xmlns:p14="http://schemas.microsoft.com/office/powerpoint/2010/main" val="3202726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C7897FC-2840-0E49-9E52-402215548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71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/>
              <a:t>UX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25E1D3-D50B-0866-8B6B-469EE7E22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46" y="1083847"/>
            <a:ext cx="11407707" cy="499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357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83E395-580F-4CFF-4E41-D4C455EF4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733" y="2812405"/>
            <a:ext cx="7983851" cy="1787888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EA8C8-0929-560B-DF88-88F5AD97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734" y="1316765"/>
            <a:ext cx="7983852" cy="1292027"/>
          </a:xfrm>
        </p:spPr>
        <p:txBody>
          <a:bodyPr anchor="b">
            <a:normAutofit/>
          </a:bodyPr>
          <a:lstStyle/>
          <a:p>
            <a:r>
              <a:rPr lang="en-IN" dirty="0"/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2490546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9F4B-BD7C-34C1-AA7F-0967716ED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71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dirty="0"/>
              <a:t>Technologies Used (Frontend)</a:t>
            </a:r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BE3EAB-7C7B-E51B-CE95-95BBD7469E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0157799"/>
              </p:ext>
            </p:extLst>
          </p:nvPr>
        </p:nvGraphicFramePr>
        <p:xfrm>
          <a:off x="609600" y="1186774"/>
          <a:ext cx="10972800" cy="49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1763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B14E5-7727-A497-666C-F462251B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71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dirty="0"/>
              <a:t>GUI Breakdown</a:t>
            </a:r>
            <a:endParaRPr lang="en-IN"/>
          </a:p>
        </p:txBody>
      </p:sp>
      <p:pic>
        <p:nvPicPr>
          <p:cNvPr id="6" name="Picture 5" descr="A picture containing chart&#10;&#10;Description automatically generated">
            <a:extLst>
              <a:ext uri="{FF2B5EF4-FFF2-40B4-BE49-F238E27FC236}">
                <a16:creationId xmlns:a16="http://schemas.microsoft.com/office/drawing/2014/main" id="{62A1CF50-8140-723A-A41B-0BAF0A677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72" y="1295400"/>
            <a:ext cx="10431656" cy="4876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24230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1A56B-95C4-4CF4-9710-4919D609D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GUI Breakdown (XML)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0E15E-3482-408D-AE11-C12217F00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&lt;!</a:t>
            </a:r>
            <a:r>
              <a:rPr lang="en-IN" sz="1200" dirty="0">
                <a:solidFill>
                  <a:srgbClr val="3F7F7F"/>
                </a:solidFill>
                <a:latin typeface="Consolas" panose="020B0609020204030204" pitchFamily="49" charset="0"/>
              </a:rPr>
              <a:t>DOCTYPE </a:t>
            </a:r>
            <a:r>
              <a:rPr lang="en-IN" sz="1200" dirty="0" err="1">
                <a:solidFill>
                  <a:srgbClr val="008080"/>
                </a:solidFill>
                <a:latin typeface="Consolas" panose="020B0609020204030204" pitchFamily="49" charset="0"/>
              </a:rPr>
              <a:t>ui:UiBinder</a:t>
            </a: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SYSTEM </a:t>
            </a:r>
            <a:r>
              <a:rPr lang="en-IN" sz="1200" dirty="0">
                <a:solidFill>
                  <a:srgbClr val="3F7F5F"/>
                </a:solidFill>
                <a:latin typeface="Consolas" panose="020B0609020204030204" pitchFamily="49" charset="0"/>
              </a:rPr>
              <a:t>"http://dl.google.com/</a:t>
            </a:r>
            <a:r>
              <a:rPr lang="en-IN" sz="1200" dirty="0" err="1">
                <a:solidFill>
                  <a:srgbClr val="3F7F5F"/>
                </a:solidFill>
                <a:latin typeface="Consolas" panose="020B0609020204030204" pitchFamily="49" charset="0"/>
              </a:rPr>
              <a:t>gwt</a:t>
            </a:r>
            <a:r>
              <a:rPr lang="en-IN" sz="1200" dirty="0">
                <a:solidFill>
                  <a:srgbClr val="3F7F5F"/>
                </a:solidFill>
                <a:latin typeface="Consolas" panose="020B0609020204030204" pitchFamily="49" charset="0"/>
              </a:rPr>
              <a:t>/DTD/</a:t>
            </a:r>
            <a:r>
              <a:rPr lang="en-IN" sz="1200" dirty="0" err="1">
                <a:solidFill>
                  <a:srgbClr val="3F7F5F"/>
                </a:solidFill>
                <a:latin typeface="Consolas" panose="020B0609020204030204" pitchFamily="49" charset="0"/>
              </a:rPr>
              <a:t>xhtml.ent</a:t>
            </a:r>
            <a:r>
              <a:rPr lang="en-IN" sz="1200" dirty="0">
                <a:solidFill>
                  <a:srgbClr val="3F7F5F"/>
                </a:solidFill>
                <a:latin typeface="Consolas" panose="020B0609020204030204" pitchFamily="49" charset="0"/>
              </a:rPr>
              <a:t>"</a:t>
            </a: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u="sng" dirty="0" err="1">
                <a:solidFill>
                  <a:srgbClr val="3F7F7F"/>
                </a:solidFill>
                <a:latin typeface="Consolas" panose="020B0609020204030204" pitchFamily="49" charset="0"/>
              </a:rPr>
              <a:t>ui:UiBinder</a:t>
            </a:r>
            <a:r>
              <a:rPr lang="en-IN" sz="1200" u="sng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IN" sz="1200" u="sng" dirty="0" err="1">
                <a:solidFill>
                  <a:srgbClr val="7F007F"/>
                </a:solidFill>
                <a:latin typeface="Consolas" panose="020B0609020204030204" pitchFamily="49" charset="0"/>
              </a:rPr>
              <a:t>xmlns:ui</a:t>
            </a:r>
            <a:r>
              <a:rPr lang="en-IN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IN" sz="1200" i="1" u="sng" dirty="0" err="1">
                <a:solidFill>
                  <a:srgbClr val="2A00FF"/>
                </a:solidFill>
                <a:latin typeface="Consolas" panose="020B0609020204030204" pitchFamily="49" charset="0"/>
              </a:rPr>
              <a:t>urn:ui:com.google.gwt.uibinder</a:t>
            </a:r>
            <a:r>
              <a:rPr lang="en-IN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IN" sz="1200" i="1" u="sng" dirty="0" err="1">
                <a:solidFill>
                  <a:srgbClr val="7F007F"/>
                </a:solidFill>
                <a:latin typeface="Consolas" panose="020B0609020204030204" pitchFamily="49" charset="0"/>
              </a:rPr>
              <a:t>xmlns:g</a:t>
            </a:r>
            <a:r>
              <a:rPr lang="en-IN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IN" sz="1200" i="1" u="sng" dirty="0" err="1">
                <a:solidFill>
                  <a:srgbClr val="2A00FF"/>
                </a:solidFill>
                <a:latin typeface="Consolas" panose="020B0609020204030204" pitchFamily="49" charset="0"/>
              </a:rPr>
              <a:t>urn:import:com.google.gwt.user.client.ui</a:t>
            </a:r>
            <a:r>
              <a:rPr lang="en-IN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</a:p>
          <a:p>
            <a:pPr marL="0" indent="0" algn="l">
              <a:buNone/>
            </a:pPr>
            <a:r>
              <a:rPr lang="en-IN" sz="1200" dirty="0">
                <a:latin typeface="Consolas" panose="020B0609020204030204" pitchFamily="49" charset="0"/>
              </a:rPr>
              <a:t>  </a:t>
            </a:r>
            <a:r>
              <a:rPr lang="en-IN" sz="1200" dirty="0" err="1">
                <a:solidFill>
                  <a:srgbClr val="7F007F"/>
                </a:solidFill>
                <a:latin typeface="Consolas" panose="020B0609020204030204" pitchFamily="49" charset="0"/>
              </a:rPr>
              <a:t>xmlns:c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200" i="1" dirty="0">
                <a:solidFill>
                  <a:srgbClr val="2A00FF"/>
                </a:solidFill>
                <a:latin typeface="Consolas" panose="020B0609020204030204" pitchFamily="49" charset="0"/>
              </a:rPr>
              <a:t>"urn:import:org.gwtbootstrap3.client.ui.gwt" </a:t>
            </a:r>
            <a:r>
              <a:rPr lang="en-IN" sz="1200" i="1" dirty="0" err="1">
                <a:solidFill>
                  <a:srgbClr val="7F007F"/>
                </a:solidFill>
                <a:latin typeface="Consolas" panose="020B0609020204030204" pitchFamily="49" charset="0"/>
              </a:rPr>
              <a:t>xmlns:db</a:t>
            </a:r>
            <a:r>
              <a:rPr lang="en-IN" sz="1200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2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IN" sz="12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urn:import:com.google.gwt.user.datepicker.client</a:t>
            </a:r>
            <a:r>
              <a:rPr lang="en-IN" sz="12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</a:p>
          <a:p>
            <a:pPr marL="0" indent="0" algn="l">
              <a:buNone/>
            </a:pPr>
            <a:r>
              <a:rPr lang="en-IN" sz="1200" dirty="0">
                <a:latin typeface="Consolas" panose="020B0609020204030204" pitchFamily="49" charset="0"/>
              </a:rPr>
              <a:t>  </a:t>
            </a:r>
            <a:r>
              <a:rPr lang="en-IN" sz="1200" dirty="0" err="1">
                <a:solidFill>
                  <a:srgbClr val="7F007F"/>
                </a:solidFill>
                <a:latin typeface="Consolas" panose="020B0609020204030204" pitchFamily="49" charset="0"/>
              </a:rPr>
              <a:t>xmlns:bs</a:t>
            </a: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200" i="1" dirty="0">
                <a:solidFill>
                  <a:srgbClr val="2A00FF"/>
                </a:solidFill>
                <a:latin typeface="Consolas" panose="020B0609020204030204" pitchFamily="49" charset="0"/>
              </a:rPr>
              <a:t>"urn:import:org.gwtbootstrap3.client.ui"</a:t>
            </a:r>
            <a:r>
              <a:rPr lang="en-IN" sz="12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u="sng" dirty="0" err="1">
                <a:solidFill>
                  <a:srgbClr val="3F7F7F"/>
                </a:solidFill>
                <a:latin typeface="Consolas" panose="020B0609020204030204" pitchFamily="49" charset="0"/>
              </a:rPr>
              <a:t>g:DockLayoutPanel</a:t>
            </a:r>
            <a:r>
              <a:rPr lang="en-IN" sz="1200" u="sng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IN" sz="1200" u="sng" dirty="0">
                <a:solidFill>
                  <a:srgbClr val="7F007F"/>
                </a:solidFill>
                <a:latin typeface="Consolas" panose="020B0609020204030204" pitchFamily="49" charset="0"/>
              </a:rPr>
              <a:t>unit</a:t>
            </a:r>
            <a:r>
              <a:rPr lang="en-IN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"EM"</a:t>
            </a:r>
            <a:r>
              <a:rPr lang="en-IN" sz="1200" i="1" u="sng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3F5FBF"/>
                </a:solidFill>
                <a:latin typeface="Consolas" panose="020B0609020204030204" pitchFamily="49" charset="0"/>
              </a:rPr>
              <a:t>&lt;!-- DataGrid. --&gt;</a:t>
            </a:r>
          </a:p>
          <a:p>
            <a:pPr marL="0" indent="0" algn="l">
              <a:buNone/>
            </a:pP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u="sng" dirty="0" err="1">
                <a:solidFill>
                  <a:srgbClr val="3F7F7F"/>
                </a:solidFill>
                <a:latin typeface="Consolas" panose="020B0609020204030204" pitchFamily="49" charset="0"/>
              </a:rPr>
              <a:t>g:north</a:t>
            </a:r>
            <a:r>
              <a:rPr lang="en-IN" sz="1200" u="sng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IN" sz="1200" u="sng" dirty="0">
                <a:solidFill>
                  <a:srgbClr val="7F007F"/>
                </a:solidFill>
                <a:latin typeface="Consolas" panose="020B0609020204030204" pitchFamily="49" charset="0"/>
              </a:rPr>
              <a:t>size</a:t>
            </a:r>
            <a:r>
              <a:rPr lang="en-IN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'10'</a:t>
            </a:r>
            <a:r>
              <a:rPr lang="en-IN" sz="1200" i="1" u="sng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u="sng" dirty="0" err="1">
                <a:solidFill>
                  <a:srgbClr val="3F7F7F"/>
                </a:solidFill>
                <a:latin typeface="Consolas" panose="020B0609020204030204" pitchFamily="49" charset="0"/>
              </a:rPr>
              <a:t>g:VerticalPanel</a:t>
            </a:r>
            <a:r>
              <a:rPr lang="en-US" sz="1200" u="sng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sz="1200" u="sng" dirty="0">
                <a:solidFill>
                  <a:srgbClr val="7F007F"/>
                </a:solidFill>
                <a:latin typeface="Consolas" panose="020B0609020204030204" pitchFamily="49" charset="0"/>
              </a:rPr>
              <a:t>width</a:t>
            </a:r>
            <a:r>
              <a:rPr lang="en-US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"40%" </a:t>
            </a:r>
            <a:r>
              <a:rPr lang="en-US" sz="1200" i="1" u="sng" dirty="0" err="1">
                <a:solidFill>
                  <a:srgbClr val="7F007F"/>
                </a:solidFill>
                <a:latin typeface="Consolas" panose="020B0609020204030204" pitchFamily="49" charset="0"/>
              </a:rPr>
              <a:t>horizontalAlignment</a:t>
            </a:r>
            <a:r>
              <a:rPr lang="en-US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"ALIGN_CENTER"</a:t>
            </a:r>
            <a:r>
              <a:rPr lang="en-US" sz="1200" i="1" u="sng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u="sng" dirty="0" err="1">
                <a:solidFill>
                  <a:srgbClr val="3F7F7F"/>
                </a:solidFill>
                <a:latin typeface="Consolas" panose="020B0609020204030204" pitchFamily="49" charset="0"/>
              </a:rPr>
              <a:t>bs:Heading</a:t>
            </a:r>
            <a:r>
              <a:rPr lang="en-US" sz="1200" u="sng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sz="1200" u="sng" dirty="0">
                <a:solidFill>
                  <a:srgbClr val="7F007F"/>
                </a:solidFill>
                <a:latin typeface="Consolas" panose="020B0609020204030204" pitchFamily="49" charset="0"/>
              </a:rPr>
              <a:t>text</a:t>
            </a:r>
            <a:r>
              <a:rPr lang="en-US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"MOI DATAGRID" </a:t>
            </a:r>
            <a:r>
              <a:rPr lang="en-US" sz="1200" i="1" u="sng" dirty="0">
                <a:solidFill>
                  <a:srgbClr val="7F007F"/>
                </a:solidFill>
                <a:latin typeface="Consolas" panose="020B0609020204030204" pitchFamily="49" charset="0"/>
              </a:rPr>
              <a:t>size</a:t>
            </a:r>
            <a:r>
              <a:rPr lang="en-US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"H1" </a:t>
            </a:r>
            <a:r>
              <a:rPr lang="en-US" sz="1200" i="1" u="sng" dirty="0" err="1">
                <a:solidFill>
                  <a:srgbClr val="7F007F"/>
                </a:solidFill>
                <a:latin typeface="Consolas" panose="020B0609020204030204" pitchFamily="49" charset="0"/>
              </a:rPr>
              <a:t>marginBottom</a:t>
            </a:r>
            <a:r>
              <a:rPr lang="en-US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"20"</a:t>
            </a:r>
            <a:r>
              <a:rPr lang="en-US" sz="1200" i="1" u="sng" dirty="0">
                <a:solidFill>
                  <a:srgbClr val="008080"/>
                </a:solidFill>
                <a:latin typeface="Consolas" panose="020B0609020204030204" pitchFamily="49" charset="0"/>
              </a:rPr>
              <a:t>&gt;&lt;/</a:t>
            </a:r>
            <a:r>
              <a:rPr lang="en-US" sz="1200" i="1" u="sng" dirty="0" err="1">
                <a:solidFill>
                  <a:srgbClr val="3F7F7F"/>
                </a:solidFill>
                <a:latin typeface="Consolas" panose="020B0609020204030204" pitchFamily="49" charset="0"/>
              </a:rPr>
              <a:t>bs:Heading</a:t>
            </a:r>
            <a:r>
              <a:rPr lang="en-US" sz="1200" i="1" u="sng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u="sng" dirty="0" err="1">
                <a:solidFill>
                  <a:srgbClr val="3F7F7F"/>
                </a:solidFill>
                <a:latin typeface="Consolas" panose="020B0609020204030204" pitchFamily="49" charset="0"/>
              </a:rPr>
              <a:t>g:HorizontalPanel</a:t>
            </a:r>
            <a:r>
              <a:rPr lang="en-IN" sz="1200" u="sng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IN" sz="1200" u="sng" dirty="0">
                <a:solidFill>
                  <a:srgbClr val="7F007F"/>
                </a:solidFill>
                <a:latin typeface="Consolas" panose="020B0609020204030204" pitchFamily="49" charset="0"/>
              </a:rPr>
              <a:t>width</a:t>
            </a:r>
            <a:r>
              <a:rPr lang="en-IN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"100%" </a:t>
            </a:r>
            <a:r>
              <a:rPr lang="en-IN" sz="1200" i="1" u="sng" dirty="0" err="1">
                <a:solidFill>
                  <a:srgbClr val="7F007F"/>
                </a:solidFill>
                <a:latin typeface="Consolas" panose="020B0609020204030204" pitchFamily="49" charset="0"/>
              </a:rPr>
              <a:t>horizontalAlignment</a:t>
            </a:r>
            <a:r>
              <a:rPr lang="en-IN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'ALIGN_CENTER' </a:t>
            </a:r>
            <a:r>
              <a:rPr lang="en-IN" sz="1200" i="1" u="sng" dirty="0" err="1">
                <a:solidFill>
                  <a:srgbClr val="7F007F"/>
                </a:solidFill>
                <a:latin typeface="Consolas" panose="020B0609020204030204" pitchFamily="49" charset="0"/>
              </a:rPr>
              <a:t>verticalAlignment</a:t>
            </a:r>
            <a:r>
              <a:rPr lang="en-IN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'ALIGN_MIDDLE'</a:t>
            </a:r>
            <a:r>
              <a:rPr lang="en-IN" sz="1200" i="1" u="sng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sz="12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u="sng" dirty="0" err="1">
                <a:solidFill>
                  <a:srgbClr val="3F7F7F"/>
                </a:solidFill>
                <a:latin typeface="Consolas" panose="020B0609020204030204" pitchFamily="49" charset="0"/>
              </a:rPr>
              <a:t>g:Label</a:t>
            </a:r>
            <a:r>
              <a:rPr lang="en-US" sz="1200" u="sng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sz="1200" u="sng" dirty="0" err="1">
                <a:solidFill>
                  <a:srgbClr val="7F007F"/>
                </a:solidFill>
                <a:latin typeface="Consolas" panose="020B0609020204030204" pitchFamily="49" charset="0"/>
              </a:rPr>
              <a:t>styleName</a:t>
            </a:r>
            <a:r>
              <a:rPr lang="en-US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"bold"</a:t>
            </a:r>
            <a:r>
              <a:rPr lang="en-US" sz="1200" i="1" u="sng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From Date : </a:t>
            </a:r>
            <a:r>
              <a:rPr lang="en-US" sz="1200" i="1" u="sng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i="1" u="sng" dirty="0" err="1">
                <a:solidFill>
                  <a:srgbClr val="3F7F7F"/>
                </a:solidFill>
                <a:latin typeface="Consolas" panose="020B0609020204030204" pitchFamily="49" charset="0"/>
              </a:rPr>
              <a:t>g:Label</a:t>
            </a:r>
            <a:r>
              <a:rPr lang="en-US" sz="1200" i="1" u="sng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sz="12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u="sng" dirty="0" err="1">
                <a:solidFill>
                  <a:srgbClr val="3F7F7F"/>
                </a:solidFill>
                <a:latin typeface="Consolas" panose="020B0609020204030204" pitchFamily="49" charset="0"/>
              </a:rPr>
              <a:t>db:DateBox</a:t>
            </a:r>
            <a:r>
              <a:rPr lang="en-US" sz="1200" u="sng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sz="1200" u="sng" dirty="0" err="1">
                <a:solidFill>
                  <a:srgbClr val="7F007F"/>
                </a:solidFill>
                <a:latin typeface="Consolas" panose="020B0609020204030204" pitchFamily="49" charset="0"/>
              </a:rPr>
              <a:t>ui:field</a:t>
            </a:r>
            <a:r>
              <a:rPr lang="en-US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200" i="1" u="sng" dirty="0" err="1">
                <a:solidFill>
                  <a:srgbClr val="2A00FF"/>
                </a:solidFill>
                <a:latin typeface="Consolas" panose="020B0609020204030204" pitchFamily="49" charset="0"/>
              </a:rPr>
              <a:t>fromDate</a:t>
            </a:r>
            <a:r>
              <a:rPr lang="en-US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200" i="1" u="sng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sz="12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u="sng" dirty="0" err="1">
                <a:solidFill>
                  <a:srgbClr val="3F7F7F"/>
                </a:solidFill>
                <a:latin typeface="Consolas" panose="020B0609020204030204" pitchFamily="49" charset="0"/>
              </a:rPr>
              <a:t>g:Label</a:t>
            </a:r>
            <a:r>
              <a:rPr lang="en-US" sz="1200" u="sng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sz="1200" u="sng" dirty="0" err="1">
                <a:solidFill>
                  <a:srgbClr val="7F007F"/>
                </a:solidFill>
                <a:latin typeface="Consolas" panose="020B0609020204030204" pitchFamily="49" charset="0"/>
              </a:rPr>
              <a:t>styleName</a:t>
            </a:r>
            <a:r>
              <a:rPr lang="en-US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"bold"</a:t>
            </a:r>
            <a:r>
              <a:rPr lang="en-US" sz="1200" i="1" u="sng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To Date : </a:t>
            </a:r>
            <a:r>
              <a:rPr lang="en-US" sz="1200" i="1" u="sng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i="1" u="sng" dirty="0" err="1">
                <a:solidFill>
                  <a:srgbClr val="3F7F7F"/>
                </a:solidFill>
                <a:latin typeface="Consolas" panose="020B0609020204030204" pitchFamily="49" charset="0"/>
              </a:rPr>
              <a:t>g:Label</a:t>
            </a:r>
            <a:r>
              <a:rPr lang="en-US" sz="1200" i="1" u="sng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sz="12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u="sng" dirty="0" err="1">
                <a:solidFill>
                  <a:srgbClr val="3F7F7F"/>
                </a:solidFill>
                <a:latin typeface="Consolas" panose="020B0609020204030204" pitchFamily="49" charset="0"/>
              </a:rPr>
              <a:t>db:DateBox</a:t>
            </a:r>
            <a:r>
              <a:rPr lang="en-US" sz="1200" u="sng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sz="1200" u="sng" dirty="0" err="1">
                <a:solidFill>
                  <a:srgbClr val="7F007F"/>
                </a:solidFill>
                <a:latin typeface="Consolas" panose="020B0609020204030204" pitchFamily="49" charset="0"/>
              </a:rPr>
              <a:t>ui:field</a:t>
            </a:r>
            <a:r>
              <a:rPr lang="en-US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200" i="1" u="sng" dirty="0" err="1">
                <a:solidFill>
                  <a:srgbClr val="2A00FF"/>
                </a:solidFill>
                <a:latin typeface="Consolas" panose="020B0609020204030204" pitchFamily="49" charset="0"/>
              </a:rPr>
              <a:t>toDate</a:t>
            </a:r>
            <a:r>
              <a:rPr lang="en-US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200" i="1" u="sng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sz="12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1200" u="sng" dirty="0" err="1">
                <a:solidFill>
                  <a:srgbClr val="3F7F7F"/>
                </a:solidFill>
                <a:latin typeface="Consolas" panose="020B0609020204030204" pitchFamily="49" charset="0"/>
              </a:rPr>
              <a:t>g:Button</a:t>
            </a:r>
            <a:r>
              <a:rPr lang="en-US" sz="1200" u="sng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sz="1200" u="sng" dirty="0" err="1">
                <a:solidFill>
                  <a:srgbClr val="7F007F"/>
                </a:solidFill>
                <a:latin typeface="Consolas" panose="020B0609020204030204" pitchFamily="49" charset="0"/>
              </a:rPr>
              <a:t>ui:field</a:t>
            </a:r>
            <a:r>
              <a:rPr lang="en-US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200" i="1" u="sng" dirty="0" err="1">
                <a:solidFill>
                  <a:srgbClr val="2A00FF"/>
                </a:solidFill>
                <a:latin typeface="Consolas" panose="020B0609020204030204" pitchFamily="49" charset="0"/>
              </a:rPr>
              <a:t>submitButton</a:t>
            </a:r>
            <a:r>
              <a:rPr lang="en-US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1200" i="1" u="sng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Submit</a:t>
            </a:r>
            <a:r>
              <a:rPr lang="en-US" sz="1200" i="1" u="sng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sz="1200" i="1" u="sng" dirty="0" err="1">
                <a:solidFill>
                  <a:srgbClr val="3F7F7F"/>
                </a:solidFill>
                <a:latin typeface="Consolas" panose="020B0609020204030204" pitchFamily="49" charset="0"/>
              </a:rPr>
              <a:t>g:Button</a:t>
            </a:r>
            <a:r>
              <a:rPr lang="en-US" sz="1200" i="1" u="sng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IN" sz="1200" dirty="0" err="1">
                <a:solidFill>
                  <a:srgbClr val="3F7F7F"/>
                </a:solidFill>
                <a:latin typeface="Consolas" panose="020B0609020204030204" pitchFamily="49" charset="0"/>
              </a:rPr>
              <a:t>g:HorizontalPanel</a:t>
            </a: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IN" sz="1200" dirty="0" err="1">
                <a:solidFill>
                  <a:srgbClr val="3F7F7F"/>
                </a:solidFill>
                <a:latin typeface="Consolas" panose="020B0609020204030204" pitchFamily="49" charset="0"/>
              </a:rPr>
              <a:t>g:VerticalPanel</a:t>
            </a: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IN" sz="1200" dirty="0" err="1">
                <a:solidFill>
                  <a:srgbClr val="3F7F7F"/>
                </a:solidFill>
                <a:latin typeface="Consolas" panose="020B0609020204030204" pitchFamily="49" charset="0"/>
              </a:rPr>
              <a:t>g:north</a:t>
            </a: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u="sng" dirty="0" err="1">
                <a:solidFill>
                  <a:srgbClr val="3F7F7F"/>
                </a:solidFill>
                <a:latin typeface="Consolas" panose="020B0609020204030204" pitchFamily="49" charset="0"/>
              </a:rPr>
              <a:t>g:center</a:t>
            </a:r>
            <a:r>
              <a:rPr lang="en-IN" sz="1200" u="sng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u="sng" dirty="0" err="1">
                <a:solidFill>
                  <a:srgbClr val="3F7F7F"/>
                </a:solidFill>
                <a:latin typeface="Consolas" panose="020B0609020204030204" pitchFamily="49" charset="0"/>
              </a:rPr>
              <a:t>c:DataGrid</a:t>
            </a:r>
            <a:r>
              <a:rPr lang="en-IN" sz="1200" u="sng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IN" sz="1200" u="sng" dirty="0" err="1">
                <a:solidFill>
                  <a:srgbClr val="7F007F"/>
                </a:solidFill>
                <a:latin typeface="Consolas" panose="020B0609020204030204" pitchFamily="49" charset="0"/>
              </a:rPr>
              <a:t>ui:field</a:t>
            </a:r>
            <a:r>
              <a:rPr lang="en-IN" sz="1200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'</a:t>
            </a:r>
            <a:r>
              <a:rPr lang="en-IN" sz="1200" i="1" u="sng" dirty="0" err="1">
                <a:solidFill>
                  <a:srgbClr val="2A00FF"/>
                </a:solidFill>
                <a:latin typeface="Consolas" panose="020B0609020204030204" pitchFamily="49" charset="0"/>
              </a:rPr>
              <a:t>dataGrid</a:t>
            </a:r>
            <a:r>
              <a:rPr lang="en-IN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' </a:t>
            </a:r>
            <a:r>
              <a:rPr lang="en-IN" sz="1200" i="1" u="sng" dirty="0">
                <a:solidFill>
                  <a:srgbClr val="7F007F"/>
                </a:solidFill>
                <a:latin typeface="Consolas" panose="020B0609020204030204" pitchFamily="49" charset="0"/>
              </a:rPr>
              <a:t>width</a:t>
            </a:r>
            <a:r>
              <a:rPr lang="en-IN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"95%" </a:t>
            </a:r>
            <a:r>
              <a:rPr lang="en-IN" sz="1200" i="1" u="sng" dirty="0">
                <a:solidFill>
                  <a:srgbClr val="7F007F"/>
                </a:solidFill>
                <a:latin typeface="Consolas" panose="020B0609020204030204" pitchFamily="49" charset="0"/>
              </a:rPr>
              <a:t>condensed</a:t>
            </a:r>
            <a:r>
              <a:rPr lang="en-IN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"true" </a:t>
            </a:r>
            <a:r>
              <a:rPr lang="en-IN" sz="1200" i="1" u="sng" dirty="0">
                <a:solidFill>
                  <a:srgbClr val="7F007F"/>
                </a:solidFill>
                <a:latin typeface="Consolas" panose="020B0609020204030204" pitchFamily="49" charset="0"/>
              </a:rPr>
              <a:t>bordered</a:t>
            </a:r>
            <a:r>
              <a:rPr lang="en-IN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"true" </a:t>
            </a:r>
            <a:r>
              <a:rPr lang="en-IN" sz="1200" i="1" u="sng" dirty="0">
                <a:solidFill>
                  <a:srgbClr val="7F007F"/>
                </a:solidFill>
                <a:latin typeface="Consolas" panose="020B0609020204030204" pitchFamily="49" charset="0"/>
              </a:rPr>
              <a:t>hover</a:t>
            </a:r>
            <a:r>
              <a:rPr lang="en-IN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"true" </a:t>
            </a:r>
            <a:r>
              <a:rPr lang="en-IN" sz="1200" i="1" u="sng" dirty="0" err="1">
                <a:solidFill>
                  <a:srgbClr val="7F007F"/>
                </a:solidFill>
                <a:latin typeface="Consolas" panose="020B0609020204030204" pitchFamily="49" charset="0"/>
              </a:rPr>
              <a:t>styleName</a:t>
            </a:r>
            <a:r>
              <a:rPr lang="en-IN" sz="1200" i="1" u="sng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"text-</a:t>
            </a:r>
            <a:r>
              <a:rPr lang="en-IN" sz="1200" i="1" u="sng" dirty="0" err="1">
                <a:solidFill>
                  <a:srgbClr val="2A00FF"/>
                </a:solidFill>
                <a:latin typeface="Consolas" panose="020B0609020204030204" pitchFamily="49" charset="0"/>
              </a:rPr>
              <a:t>center</a:t>
            </a:r>
            <a:r>
              <a:rPr lang="en-IN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 </a:t>
            </a:r>
            <a:r>
              <a:rPr lang="en-IN" sz="1200" i="1" u="sng" dirty="0" err="1">
                <a:solidFill>
                  <a:srgbClr val="2A00FF"/>
                </a:solidFill>
                <a:latin typeface="Consolas" panose="020B0609020204030204" pitchFamily="49" charset="0"/>
              </a:rPr>
              <a:t>center</a:t>
            </a:r>
            <a:r>
              <a:rPr lang="en-IN" sz="1200" i="1" u="sng" dirty="0">
                <a:solidFill>
                  <a:srgbClr val="2A00FF"/>
                </a:solidFill>
                <a:latin typeface="Consolas" panose="020B0609020204030204" pitchFamily="49" charset="0"/>
              </a:rPr>
              <a:t>-block" </a:t>
            </a:r>
            <a:r>
              <a:rPr lang="en-IN" sz="1200" i="1" u="sng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</a:p>
          <a:p>
            <a:pPr marL="0" indent="0" algn="l">
              <a:buNone/>
            </a:pP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IN" sz="1200" dirty="0" err="1">
                <a:solidFill>
                  <a:srgbClr val="3F7F7F"/>
                </a:solidFill>
                <a:latin typeface="Consolas" panose="020B0609020204030204" pitchFamily="49" charset="0"/>
              </a:rPr>
              <a:t>g:center</a:t>
            </a: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IN" sz="12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IN" sz="1200" dirty="0" err="1">
                <a:solidFill>
                  <a:srgbClr val="3F7F7F"/>
                </a:solidFill>
                <a:latin typeface="Consolas" panose="020B0609020204030204" pitchFamily="49" charset="0"/>
              </a:rPr>
              <a:t>g:DockLayoutPanel</a:t>
            </a: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 algn="l">
              <a:buNone/>
            </a:pP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IN" sz="1200" dirty="0" err="1">
                <a:solidFill>
                  <a:srgbClr val="3F7F7F"/>
                </a:solidFill>
                <a:latin typeface="Consolas" panose="020B0609020204030204" pitchFamily="49" charset="0"/>
              </a:rPr>
              <a:t>ui:UiBinder</a:t>
            </a:r>
            <a:r>
              <a:rPr lang="en-IN" sz="12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60648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FF200-01D5-EF85-C244-D049CD2EC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71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/>
              <a:t>Technologies Used (backend)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C12767-99AF-2C61-7EC4-44CC6EF735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9538707"/>
              </p:ext>
            </p:extLst>
          </p:nvPr>
        </p:nvGraphicFramePr>
        <p:xfrm>
          <a:off x="609600" y="1332689"/>
          <a:ext cx="10972800" cy="4839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3997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3C644-B769-9F29-0397-9CF209FA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Model and Mappings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FDD434-D647-60DB-E34F-AE1954E0A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796" y="1786482"/>
            <a:ext cx="2755631" cy="38103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8C6FE1-B487-5FC2-9EC4-56E0F2FA2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659" y="1786482"/>
            <a:ext cx="4133743" cy="31600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EFEB7E0-DCAD-BEDB-EA7E-D23CFDD35E7E}"/>
              </a:ext>
            </a:extLst>
          </p:cNvPr>
          <p:cNvSpPr txBox="1"/>
          <p:nvPr/>
        </p:nvSpPr>
        <p:spPr>
          <a:xfrm>
            <a:off x="1889675" y="5094515"/>
            <a:ext cx="3295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 Model used in Java backend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77F418-96EF-0AA1-28AC-BDC875EDD3A5}"/>
              </a:ext>
            </a:extLst>
          </p:cNvPr>
          <p:cNvSpPr txBox="1"/>
          <p:nvPr/>
        </p:nvSpPr>
        <p:spPr>
          <a:xfrm>
            <a:off x="6096000" y="5596812"/>
            <a:ext cx="3774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The corresponding mappings in Elastic</a:t>
            </a:r>
          </a:p>
        </p:txBody>
      </p:sp>
    </p:spTree>
    <p:extLst>
      <p:ext uri="{BB962C8B-B14F-4D97-AF65-F5344CB8AC3E}">
        <p14:creationId xmlns:p14="http://schemas.microsoft.com/office/powerpoint/2010/main" val="4236644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DA01F-5E90-1E6E-583A-38F1D03F5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Mentions (MVP Pattern)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A2C6F-2D3F-1ECE-CA05-3764A6CCD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429000"/>
            <a:ext cx="10972800" cy="2755490"/>
          </a:xfrm>
        </p:spPr>
        <p:txBody>
          <a:bodyPr/>
          <a:lstStyle/>
          <a:p>
            <a:endParaRPr lang="en-IN" dirty="0"/>
          </a:p>
          <a:p>
            <a:r>
              <a:rPr lang="en-IN" b="1" dirty="0"/>
              <a:t>MVP design pattern for UI </a:t>
            </a:r>
            <a:r>
              <a:rPr lang="en-IN" dirty="0"/>
              <a:t>- </a:t>
            </a:r>
            <a:r>
              <a:rPr lang="en-US" dirty="0"/>
              <a:t>MVP is a UI architectural pattern engineered to improve the separation of concerns in presentation logic.</a:t>
            </a:r>
          </a:p>
          <a:p>
            <a:r>
              <a:rPr lang="en-US" b="1" dirty="0"/>
              <a:t>Model</a:t>
            </a:r>
            <a:r>
              <a:rPr lang="en-US" dirty="0"/>
              <a:t> – Defines the data to be displayed or acted upon.</a:t>
            </a:r>
          </a:p>
          <a:p>
            <a:r>
              <a:rPr lang="en-US" b="1" dirty="0"/>
              <a:t>View</a:t>
            </a:r>
            <a:r>
              <a:rPr lang="en-US" dirty="0"/>
              <a:t> – Component that displays the data (model) and routes actions from UI to presenter</a:t>
            </a:r>
          </a:p>
          <a:p>
            <a:r>
              <a:rPr lang="en-US" b="1" dirty="0"/>
              <a:t>Presenter</a:t>
            </a:r>
            <a:r>
              <a:rPr lang="en-US" dirty="0"/>
              <a:t> -  Acts on model and view. Contains the business logic – populates the view and takes actions based on user interaction on view.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E79275-3C17-61CB-0439-858B0952F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815" y="1130710"/>
            <a:ext cx="3503463" cy="229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928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026BD-6D48-3F6F-5503-6BDE1E8A4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2E3DE-62BA-0961-05E7-D602D9467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31572"/>
            <a:ext cx="10972800" cy="4279371"/>
          </a:xfrm>
        </p:spPr>
        <p:txBody>
          <a:bodyPr/>
          <a:lstStyle/>
          <a:p>
            <a:r>
              <a:rPr lang="en-IN" dirty="0"/>
              <a:t>This application passes the WCAG (Web Content Accessibility Guidelines) standard with criteria level : AA</a:t>
            </a:r>
          </a:p>
          <a:p>
            <a:r>
              <a:rPr lang="en-IN" dirty="0"/>
              <a:t>This has been tested with NVDA Screen reader tool.</a:t>
            </a:r>
          </a:p>
          <a:p>
            <a:r>
              <a:rPr lang="en-IN" dirty="0"/>
              <a:t>This has also been tested with Color Contrast Analyzer tool.</a:t>
            </a:r>
          </a:p>
        </p:txBody>
      </p:sp>
    </p:spTree>
    <p:extLst>
      <p:ext uri="{BB962C8B-B14F-4D97-AF65-F5344CB8AC3E}">
        <p14:creationId xmlns:p14="http://schemas.microsoft.com/office/powerpoint/2010/main" val="1150813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65F6A-EB4E-2620-3975-4882379BD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TODO’s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8A20B-5F71-2EDB-DF71-587A89574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is a minor bug – The sorting order is not changed on clicking the MOI Names Header.</a:t>
            </a:r>
          </a:p>
          <a:p>
            <a:r>
              <a:rPr lang="en-IN" dirty="0"/>
              <a:t>UI Overhaul – Will explore GWT Material Design – (</a:t>
            </a:r>
            <a:r>
              <a:rPr lang="en-IN" dirty="0">
                <a:hlinkClick r:id="rId2"/>
              </a:rPr>
              <a:t>https://gwtmaterialdesign.github.io/gmd-core-demo/</a:t>
            </a:r>
            <a:r>
              <a:rPr lang="en-IN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24523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FA6C3-3FB5-69AD-879B-7272E06E8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6C1AE-6FD8-3785-10E3-0887EAF14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7625"/>
            <a:ext cx="10972800" cy="4884576"/>
          </a:xfrm>
        </p:spPr>
        <p:txBody>
          <a:bodyPr/>
          <a:lstStyle/>
          <a:p>
            <a:r>
              <a:rPr lang="en-IN" dirty="0"/>
              <a:t>Technologies - GWT, Elasticsearch, Spring Data Elastic, Docker</a:t>
            </a:r>
          </a:p>
          <a:p>
            <a:r>
              <a:rPr lang="en-IN" dirty="0"/>
              <a:t>Explored libraries like </a:t>
            </a:r>
            <a:r>
              <a:rPr lang="en-IN" dirty="0" err="1"/>
              <a:t>RestyGWT</a:t>
            </a:r>
            <a:r>
              <a:rPr lang="en-IN" dirty="0"/>
              <a:t> and GWTBootstrap3</a:t>
            </a:r>
          </a:p>
          <a:p>
            <a:r>
              <a:rPr lang="en-IN" dirty="0"/>
              <a:t>Lesson - Not every JAVA library works with GWT.</a:t>
            </a:r>
          </a:p>
          <a:p>
            <a:r>
              <a:rPr lang="en-IN" dirty="0"/>
              <a:t>The Java 8 new Date Time API does not work with GWT.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2092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82E8B-26D7-7D8D-55C1-4A539E4B2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Topics explored during Ramp Up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41947-31FA-E49B-7ACA-F737D35FB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Visitor Design Pattern</a:t>
            </a:r>
          </a:p>
          <a:p>
            <a:r>
              <a:rPr lang="en-IN" dirty="0"/>
              <a:t>Domain driven design</a:t>
            </a:r>
          </a:p>
          <a:p>
            <a:r>
              <a:rPr lang="en-IN" dirty="0"/>
              <a:t>GWT</a:t>
            </a:r>
          </a:p>
          <a:p>
            <a:r>
              <a:rPr lang="en-IN" dirty="0"/>
              <a:t>Spring Data Elastic</a:t>
            </a:r>
          </a:p>
          <a:p>
            <a:r>
              <a:rPr lang="en-IN" dirty="0"/>
              <a:t>Docker</a:t>
            </a:r>
          </a:p>
          <a:p>
            <a:r>
              <a:rPr lang="en-IN" dirty="0" err="1"/>
              <a:t>Kubernates</a:t>
            </a:r>
            <a:endParaRPr lang="en-IN" dirty="0"/>
          </a:p>
          <a:p>
            <a:r>
              <a:rPr lang="en-IN" dirty="0"/>
              <a:t>Elasticsearch</a:t>
            </a:r>
          </a:p>
          <a:p>
            <a:r>
              <a:rPr lang="en-IN" dirty="0" err="1"/>
              <a:t>PrOptima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8700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F2222-1CEC-59E8-A991-BAC003E8F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F42093-3A1B-BB0F-263D-4B789D68D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118" y="1286070"/>
            <a:ext cx="4279763" cy="428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85745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Office Theme">
  <a:themeElements>
    <a:clrScheme name="MYCOM OSI">
      <a:dk1>
        <a:srgbClr val="969696"/>
      </a:dk1>
      <a:lt1>
        <a:sysClr val="window" lastClr="FFFFFF"/>
      </a:lt1>
      <a:dk2>
        <a:srgbClr val="00617F"/>
      </a:dk2>
      <a:lt2>
        <a:srgbClr val="C1C6C8"/>
      </a:lt2>
      <a:accent1>
        <a:srgbClr val="00617F"/>
      </a:accent1>
      <a:accent2>
        <a:srgbClr val="84BD00"/>
      </a:accent2>
      <a:accent3>
        <a:srgbClr val="00859B"/>
      </a:accent3>
      <a:accent4>
        <a:srgbClr val="63B1BC"/>
      </a:accent4>
      <a:accent5>
        <a:srgbClr val="00B5E2"/>
      </a:accent5>
      <a:accent6>
        <a:srgbClr val="C4D600"/>
      </a:accent6>
      <a:hlink>
        <a:srgbClr val="84BD00"/>
      </a:hlink>
      <a:folHlink>
        <a:srgbClr val="63B1BC"/>
      </a:folHlink>
    </a:clrScheme>
    <a:fontScheme name="MYCOM OS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8899D"/>
        </a:solidFill>
        <a:ln>
          <a:noFill/>
        </a:ln>
      </a:spPr>
      <a:bodyPr rtlCol="0" anchor="ctr"/>
      <a:lstStyle>
        <a:defPPr algn="ctr" fontAlgn="base">
          <a:spcBef>
            <a:spcPct val="0"/>
          </a:spcBef>
          <a:spcAft>
            <a:spcPct val="0"/>
          </a:spcAft>
          <a:defRPr sz="1200" b="1" dirty="0">
            <a:solidFill>
              <a:prstClr val="white"/>
            </a:solidFill>
          </a:defRPr>
        </a:defPPr>
      </a:lstStyle>
      <a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67E0BBC0-3E0C-44E5-B7CB-62F937439DDD}" vid="{833F34B7-3D68-47E2-9C2E-5B0468BCEA4E}"/>
    </a:ext>
  </a:extLst>
</a:theme>
</file>

<file path=ppt/theme/theme2.xml><?xml version="1.0" encoding="utf-8"?>
<a:theme xmlns:a="http://schemas.openxmlformats.org/drawingml/2006/main" name="TM Forum Theme 2017">
  <a:themeElements>
    <a:clrScheme name="TMForum">
      <a:dk1>
        <a:srgbClr val="29313B"/>
      </a:dk1>
      <a:lt1>
        <a:sysClr val="window" lastClr="FFFFFF"/>
      </a:lt1>
      <a:dk2>
        <a:srgbClr val="29313B"/>
      </a:dk2>
      <a:lt2>
        <a:srgbClr val="FFFFFF"/>
      </a:lt2>
      <a:accent1>
        <a:srgbClr val="E0121D"/>
      </a:accent1>
      <a:accent2>
        <a:srgbClr val="29313B"/>
      </a:accent2>
      <a:accent3>
        <a:srgbClr val="999999"/>
      </a:accent3>
      <a:accent4>
        <a:srgbClr val="133595"/>
      </a:accent4>
      <a:accent5>
        <a:srgbClr val="572F7E"/>
      </a:accent5>
      <a:accent6>
        <a:srgbClr val="FD7F3A"/>
      </a:accent6>
      <a:hlink>
        <a:srgbClr val="E0121D"/>
      </a:hlink>
      <a:folHlink>
        <a:srgbClr val="9B1C1F"/>
      </a:folHlink>
    </a:clrScheme>
    <a:fontScheme name="Office 2">
      <a:majorFont>
        <a:latin typeface="Georg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libri"/>
        <a:ea typeface=""/>
        <a:cs typeface=""/>
        <a:font script="Jpan" typeface="ＭＳ Ｐ明朝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67E0BBC0-3E0C-44E5-B7CB-62F937439DDD}" vid="{90694C71-5047-4094-9E9F-9B1742D881E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MYCOM</Template>
  <TotalTime>2868</TotalTime>
  <Words>888</Words>
  <Application>Microsoft Office PowerPoint</Application>
  <PresentationFormat>Widescreen</PresentationFormat>
  <Paragraphs>73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Georgia</vt:lpstr>
      <vt:lpstr>Wingdings</vt:lpstr>
      <vt:lpstr>1_Office Theme</vt:lpstr>
      <vt:lpstr>TM Forum Theme 2017</vt:lpstr>
      <vt:lpstr>MOI (Managed object Instance) DataGrid Project Presentation</vt:lpstr>
      <vt:lpstr>About The Project</vt:lpstr>
      <vt:lpstr>UX</vt:lpstr>
      <vt:lpstr>Architecture</vt:lpstr>
      <vt:lpstr>Technologies Used (Frontend)</vt:lpstr>
      <vt:lpstr>GUI Breakdown</vt:lpstr>
      <vt:lpstr>GUI Breakdown (XML)</vt:lpstr>
      <vt:lpstr>Technologies Used (backend)</vt:lpstr>
      <vt:lpstr>Data Model and Mappings</vt:lpstr>
      <vt:lpstr>Special Mentions (MVP Pattern)</vt:lpstr>
      <vt:lpstr>Accessibility</vt:lpstr>
      <vt:lpstr>TODO’s</vt:lpstr>
      <vt:lpstr>Learnings</vt:lpstr>
      <vt:lpstr>Topics explored during Ramp Up Program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Analytics &amp; AIOps</dc:title>
  <dc:creator>Ken Seong Tan</dc:creator>
  <cp:lastModifiedBy>Jayant Panwar</cp:lastModifiedBy>
  <cp:revision>167</cp:revision>
  <dcterms:created xsi:type="dcterms:W3CDTF">2022-04-06T07:47:02Z</dcterms:created>
  <dcterms:modified xsi:type="dcterms:W3CDTF">2022-12-19T03:41:52Z</dcterms:modified>
</cp:coreProperties>
</file>